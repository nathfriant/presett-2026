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0"/>
            <a:ext cx="11277295" cy="1828800"/>
          </a:xfrm>
          <a:prstGeom prst="rect">
            <a:avLst/>
          </a:prstGeom>
          <a:noFill/>
        </p:spPr>
        <p:txBody>
          <a:bodyPr wrap="square">
            <a:spAutoFit/>
          </a:bodyPr>
          <a:lstStyle/>
          <a:p>
            <a:pPr algn="ctr">
              <a:defRPr sz="4000" b="1">
                <a:solidFill>
                  <a:srgbClr val="FFFFFF"/>
                </a:solidFill>
              </a:defRPr>
            </a:pPr>
            <a:r>
              <a:t>LLMs et emballement de la performativité dans l'enseignement supérieur</a:t>
            </a:r>
          </a:p>
        </p:txBody>
      </p:sp>
      <p:sp>
        <p:nvSpPr>
          <p:cNvPr id="4" name="TextBox 3"/>
          <p:cNvSpPr txBox="1"/>
          <p:nvPr/>
        </p:nvSpPr>
        <p:spPr>
          <a:xfrm>
            <a:off x="457200" y="4114800"/>
            <a:ext cx="11277295" cy="457200"/>
          </a:xfrm>
          <a:prstGeom prst="rect">
            <a:avLst/>
          </a:prstGeom>
          <a:noFill/>
        </p:spPr>
        <p:txBody>
          <a:bodyPr wrap="none">
            <a:spAutoFit/>
          </a:bodyPr>
          <a:lstStyle/>
          <a:p>
            <a:pPr algn="ctr">
              <a:defRPr sz="2400" b="1">
                <a:solidFill>
                  <a:srgbClr val="FFFFFF"/>
                </a:solidFill>
              </a:defRPr>
            </a:pPr>
            <a:r>
              <a:t>Nathanaël Friant</a:t>
            </a:r>
          </a:p>
        </p:txBody>
      </p:sp>
      <p:sp>
        <p:nvSpPr>
          <p:cNvPr id="5" name="TextBox 4"/>
          <p:cNvSpPr txBox="1"/>
          <p:nvPr/>
        </p:nvSpPr>
        <p:spPr>
          <a:xfrm>
            <a:off x="457200" y="4572000"/>
            <a:ext cx="11277295" cy="457200"/>
          </a:xfrm>
          <a:prstGeom prst="rect">
            <a:avLst/>
          </a:prstGeom>
          <a:noFill/>
        </p:spPr>
        <p:txBody>
          <a:bodyPr wrap="none">
            <a:spAutoFit/>
          </a:bodyPr>
          <a:lstStyle/>
          <a:p>
            <a:pPr algn="ctr">
              <a:defRPr sz="2000">
                <a:solidFill>
                  <a:srgbClr val="CCCCCC"/>
                </a:solidFill>
              </a:defRPr>
            </a:pPr>
            <a:r>
              <a:t>Université libre de Bruxelles</a:t>
            </a:r>
          </a:p>
        </p:txBody>
      </p:sp>
      <p:sp>
        <p:nvSpPr>
          <p:cNvPr id="6" name="TextBox 5"/>
          <p:cNvSpPr txBox="1"/>
          <p:nvPr/>
        </p:nvSpPr>
        <p:spPr>
          <a:xfrm>
            <a:off x="457200" y="5029200"/>
            <a:ext cx="11277295" cy="457200"/>
          </a:xfrm>
          <a:prstGeom prst="rect">
            <a:avLst/>
          </a:prstGeom>
          <a:noFill/>
        </p:spPr>
        <p:txBody>
          <a:bodyPr wrap="none">
            <a:spAutoFit/>
          </a:bodyPr>
          <a:lstStyle/>
          <a:p>
            <a:pPr algn="ctr">
              <a:defRPr sz="1800" i="1">
                <a:solidFill>
                  <a:srgbClr val="AAAAAA"/>
                </a:solidFill>
              </a:defRPr>
            </a:pPr>
            <a:r>
              <a:t>Pré-SETT - 28 Janvier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Une communication différente</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Point de départ: vécu personnel</a:t>
            </a:r>
          </a:p>
          <a:p>
            <a:pPr>
              <a:spcAft>
                <a:spcPts val="1200"/>
              </a:spcAft>
              <a:defRPr sz="2200">
                <a:solidFill>
                  <a:srgbClr val="FFFFFF"/>
                </a:solidFill>
              </a:defRPr>
            </a:pPr>
            <a:r>
              <a:t>• Expérimentations avec les LLM</a:t>
            </a:r>
          </a:p>
          <a:p>
            <a:pPr>
              <a:spcAft>
                <a:spcPts val="1200"/>
              </a:spcAft>
              <a:defRPr sz="2200">
                <a:solidFill>
                  <a:srgbClr val="FFFFFF"/>
                </a:solidFill>
              </a:defRPr>
            </a:pPr>
            <a:r>
              <a:t>• Vécu de prof. depuis l'intérieur de l'université</a:t>
            </a:r>
          </a:p>
          <a:p>
            <a:pPr>
              <a:spcAft>
                <a:spcPts val="1200"/>
              </a:spcAft>
              <a:defRPr sz="2200">
                <a:solidFill>
                  <a:srgbClr val="FFFFFF"/>
                </a:solidFill>
              </a:defRPr>
            </a:pPr>
            <a:r>
              <a:t>• Sérendipité</a:t>
            </a:r>
          </a:p>
          <a:p>
            <a:pPr>
              <a:spcAft>
                <a:spcPts val="1200"/>
              </a:spcAft>
              <a:defRPr sz="2200">
                <a:solidFill>
                  <a:srgbClr val="FFFFFF"/>
                </a:solidFill>
              </a:defRPr>
            </a:pPr>
            <a:r>
              <a:t>• Résultat: notes éparses, lecture et enregistrement d'une collection d'articles scientifiques et de billets de blogs, liens entre concepts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Une solution pour en faire une présentation?</a:t>
            </a:r>
          </a:p>
        </p:txBody>
      </p:sp>
      <p:pic>
        <p:nvPicPr>
          <p:cNvPr id="4" name="Picture 3" descr="claude-code-1.png"/>
          <p:cNvPicPr>
            <a:picLocks noChangeAspect="1"/>
          </p:cNvPicPr>
          <p:nvPr/>
        </p:nvPicPr>
        <p:blipFill>
          <a:blip r:embed="rId2"/>
          <a:stretch>
            <a:fillRect/>
          </a:stretch>
        </p:blipFill>
        <p:spPr>
          <a:xfrm>
            <a:off x="1371600" y="1371600"/>
            <a:ext cx="9144000" cy="591502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Une solution pour en faire une présentation? (2)</a:t>
            </a:r>
          </a:p>
        </p:txBody>
      </p:sp>
      <p:pic>
        <p:nvPicPr>
          <p:cNvPr id="4" name="Picture 3" descr="claude-code-2.png"/>
          <p:cNvPicPr>
            <a:picLocks noChangeAspect="1"/>
          </p:cNvPicPr>
          <p:nvPr/>
        </p:nvPicPr>
        <p:blipFill>
          <a:blip r:embed="rId2"/>
          <a:stretch>
            <a:fillRect/>
          </a:stretch>
        </p:blipFill>
        <p:spPr>
          <a:xfrm>
            <a:off x="1371600" y="1371600"/>
            <a:ext cx="9144000" cy="400459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Et franchement, j'aurais pu arrêter là ma préparation.</a:t>
            </a:r>
          </a:p>
          <a:p>
            <a:pPr>
              <a:spcAft>
                <a:spcPts val="1200"/>
              </a:spcAft>
              <a:defRPr sz="2200">
                <a:solidFill>
                  <a:srgbClr val="FFFFFF"/>
                </a:solidFill>
              </a:defRPr>
            </a:pPr>
            <a:r>
              <a:t>• La présentation était très bien. Je connaissais les articles pour les avoir lus.</a:t>
            </a:r>
          </a:p>
          <a:p>
            <a:pPr>
              <a:spcAft>
                <a:spcPts val="1200"/>
              </a:spcAft>
              <a:defRPr sz="2200">
                <a:solidFill>
                  <a:srgbClr val="FFFFFF"/>
                </a:solidFill>
              </a:defRPr>
            </a:pPr>
            <a:r>
              <a:t>• Mais cela aurait-il été correct?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Il y aurait pu avoir des erreurs</a:t>
            </a:r>
          </a:p>
        </p:txBody>
      </p:sp>
      <p:pic>
        <p:nvPicPr>
          <p:cNvPr id="4" name="Picture 3" descr="retracted-paper.png"/>
          <p:cNvPicPr>
            <a:picLocks noChangeAspect="1"/>
          </p:cNvPicPr>
          <p:nvPr/>
        </p:nvPicPr>
        <p:blipFill>
          <a:blip r:embed="rId2"/>
          <a:stretch>
            <a:fillRect/>
          </a:stretch>
        </p:blipFill>
        <p:spPr>
          <a:xfrm>
            <a:off x="1371600" y="1371600"/>
            <a:ext cx="9144000" cy="741298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Pourquoi ai-je procédé de la sorte?</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Mon hypothèse est que, comme chargé de cours à l'université, les LLM m'offrent une échappatoire apparente à la tension créée par la performativité.</a:t>
            </a:r>
          </a:p>
          <a:p>
            <a:pPr>
              <a:spcAft>
                <a:spcPts val="1200"/>
              </a:spcAft>
              <a:defRPr sz="2200">
                <a:solidFill>
                  <a:srgbClr val="FFFFFF"/>
                </a:solidFill>
              </a:defRPr>
            </a:pPr>
            <a:r>
              <a:t>• Ils me permettent de performer. Mais ils peuvent m'empêcher d'être.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Le problème</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En me permettant cela, les LLMs s'insèrent dans une boucle de rétroaction qui intensifie collectivement ce qu'ils semblent résoudre individuellement.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0"/>
            <a:ext cx="11277295" cy="1371600"/>
          </a:xfrm>
          <a:prstGeom prst="rect">
            <a:avLst/>
          </a:prstGeom>
          <a:noFill/>
        </p:spPr>
        <p:txBody>
          <a:bodyPr wrap="square">
            <a:spAutoFit/>
          </a:bodyPr>
          <a:lstStyle/>
          <a:p>
            <a:pPr algn="ctr">
              <a:defRPr sz="4400" b="1">
                <a:solidFill>
                  <a:srgbClr val="FFFFFF"/>
                </a:solidFill>
              </a:defRPr>
            </a:pPr>
            <a:r>
              <a:t>Mon cadre théorique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Des technologies culturelles et sociales</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"Large models should not be viewed primarily as intelligent agents but as a new kind of cultural and social technology, allowing humans to take advantage of information other humans have accumulated."</a:t>
            </a:r>
          </a:p>
          <a:p>
            <a:pPr algn="r">
              <a:defRPr sz="1600">
                <a:solidFill>
                  <a:srgbClr val="AAAAAA"/>
                </a:solidFill>
              </a:defRPr>
            </a:pPr>
            <a:r>
              <a:t>— Farrell et al. (2025), Science, p. 1153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Des technologies culturelles et sociales (2)</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"But these systems do not merely summarize this information, like library catalogs, internet search, and Wikipedia. They also can reorganize and reconstruct representations or 'simulations' of this information at scale and in new ways, like markets, states, and bureaucracies."</a:t>
            </a:r>
          </a:p>
          <a:p>
            <a:pPr algn="r">
              <a:defRPr sz="1600">
                <a:solidFill>
                  <a:srgbClr val="AAAAAA"/>
                </a:solidFill>
              </a:defRPr>
            </a:pPr>
            <a:r>
              <a:t>— Farrell et al. (2025), Science, p. 1154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none">
            <a:spAutoFit/>
          </a:bodyPr>
          <a:lstStyle/>
          <a:p>
            <a:pPr>
              <a:defRPr sz="3200" b="1">
                <a:solidFill>
                  <a:srgbClr val="FFFFFF"/>
                </a:solidFill>
              </a:defRPr>
            </a:pPr>
            <a:r>
              <a:t>Des représentations avec pertes - 'Lossy JPEGs'</a:t>
            </a:r>
          </a:p>
        </p:txBody>
      </p:sp>
      <p:graphicFrame>
        <p:nvGraphicFramePr>
          <p:cNvPr id="4" name="Table 3"/>
          <p:cNvGraphicFramePr>
            <a:graphicFrameLocks noGrp="1"/>
          </p:cNvGraphicFramePr>
          <p:nvPr/>
        </p:nvGraphicFramePr>
        <p:xfrm>
          <a:off x="457200" y="1371600"/>
          <a:ext cx="11277295" cy="2286000"/>
        </p:xfrm>
        <a:graphic>
          <a:graphicData uri="http://schemas.openxmlformats.org/drawingml/2006/table">
            <a:tbl>
              <a:tblPr firstRow="1" bandRow="1">
                <a:tableStyleId>{5C22544A-7EE6-4342-B048-85BDC9FD1C3A}</a:tableStyleId>
              </a:tblPr>
              <a:tblGrid>
                <a:gridCol w="3759098"/>
                <a:gridCol w="3759098"/>
                <a:gridCol w="3759099"/>
              </a:tblGrid>
              <a:tr h="457200">
                <a:tc>
                  <a:txBody>
                    <a:bodyPr/>
                    <a:lstStyle/>
                    <a:p>
                      <a:pPr>
                        <a:defRPr b="1" sz="1800">
                          <a:solidFill>
                            <a:srgbClr val="FFFFFF"/>
                          </a:solidFill>
                        </a:defRPr>
                      </a:pPr>
                      <a:r>
                        <a:t>Technologie</a:t>
                      </a:r>
                    </a:p>
                  </a:txBody>
                  <a:tcPr>
                    <a:solidFill>
                      <a:srgbClr val="42AFFA"/>
                    </a:solidFill>
                  </a:tcPr>
                </a:tc>
                <a:tc>
                  <a:txBody>
                    <a:bodyPr/>
                    <a:lstStyle/>
                    <a:p>
                      <a:pPr>
                        <a:defRPr b="1" sz="1800">
                          <a:solidFill>
                            <a:srgbClr val="FFFFFF"/>
                          </a:solidFill>
                        </a:defRPr>
                      </a:pPr>
                      <a:r>
                        <a:t>Ce qu'elle compresse</a:t>
                      </a:r>
                    </a:p>
                  </a:txBody>
                  <a:tcPr>
                    <a:solidFill>
                      <a:srgbClr val="42AFFA"/>
                    </a:solidFill>
                  </a:tcPr>
                </a:tc>
                <a:tc>
                  <a:txBody>
                    <a:bodyPr/>
                    <a:lstStyle/>
                    <a:p>
                      <a:pPr>
                        <a:defRPr b="1" sz="1800">
                          <a:solidFill>
                            <a:srgbClr val="FFFFFF"/>
                          </a:solidFill>
                        </a:defRPr>
                      </a:pPr>
                      <a:r>
                        <a:t>Ce qu'elle perd</a:t>
                      </a:r>
                    </a:p>
                  </a:txBody>
                  <a:tcPr>
                    <a:solidFill>
                      <a:srgbClr val="42AFFA"/>
                    </a:solidFill>
                  </a:tcPr>
                </a:tc>
              </a:tr>
              <a:tr h="457200">
                <a:tc>
                  <a:txBody>
                    <a:bodyPr/>
                    <a:lstStyle/>
                    <a:p>
                      <a:pPr>
                        <a:defRPr sz="1600">
                          <a:solidFill>
                            <a:srgbClr val="FFFFFF"/>
                          </a:solidFill>
                        </a:defRPr>
                      </a:pPr>
                      <a:r>
                        <a:t>Prix de marché</a:t>
                      </a:r>
                    </a:p>
                  </a:txBody>
                  <a:tcPr>
                    <a:solidFill>
                      <a:srgbClr val="2A2A4A"/>
                    </a:solidFill>
                  </a:tcPr>
                </a:tc>
                <a:tc>
                  <a:txBody>
                    <a:bodyPr/>
                    <a:lstStyle/>
                    <a:p>
                      <a:pPr>
                        <a:defRPr sz="1600">
                          <a:solidFill>
                            <a:srgbClr val="FFFFFF"/>
                          </a:solidFill>
                        </a:defRPr>
                      </a:pPr>
                      <a:r>
                        <a:t>Relations économiques complexes</a:t>
                      </a:r>
                    </a:p>
                  </a:txBody>
                  <a:tcPr>
                    <a:solidFill>
                      <a:srgbClr val="2A2A4A"/>
                    </a:solidFill>
                  </a:tcPr>
                </a:tc>
                <a:tc>
                  <a:txBody>
                    <a:bodyPr/>
                    <a:lstStyle/>
                    <a:p>
                      <a:pPr>
                        <a:defRPr sz="1600">
                          <a:solidFill>
                            <a:srgbClr val="FFFFFF"/>
                          </a:solidFill>
                        </a:defRPr>
                      </a:pPr>
                      <a:r>
                        <a:t>Externalités (ex: carbone)</a:t>
                      </a:r>
                    </a:p>
                  </a:txBody>
                  <a:tcPr>
                    <a:solidFill>
                      <a:srgbClr val="2A2A4A"/>
                    </a:solidFill>
                  </a:tcPr>
                </a:tc>
              </a:tr>
              <a:tr h="457200">
                <a:tc>
                  <a:txBody>
                    <a:bodyPr/>
                    <a:lstStyle/>
                    <a:p>
                      <a:pPr>
                        <a:defRPr sz="1600">
                          <a:solidFill>
                            <a:srgbClr val="FFFFFF"/>
                          </a:solidFill>
                        </a:defRPr>
                      </a:pPr>
                      <a:r>
                        <a:t>Statistiques gouv.</a:t>
                      </a:r>
                    </a:p>
                  </a:txBody>
                  <a:tcPr>
                    <a:solidFill>
                      <a:srgbClr val="2A2A4A"/>
                    </a:solidFill>
                  </a:tcPr>
                </a:tc>
                <a:tc>
                  <a:txBody>
                    <a:bodyPr/>
                    <a:lstStyle/>
                    <a:p>
                      <a:pPr>
                        <a:defRPr sz="1600">
                          <a:solidFill>
                            <a:srgbClr val="FFFFFF"/>
                          </a:solidFill>
                        </a:defRPr>
                      </a:pPr>
                      <a:r>
                        <a:t>Caractéristiques des populations</a:t>
                      </a:r>
                    </a:p>
                  </a:txBody>
                  <a:tcPr>
                    <a:solidFill>
                      <a:srgbClr val="2A2A4A"/>
                    </a:solidFill>
                  </a:tcPr>
                </a:tc>
                <a:tc>
                  <a:txBody>
                    <a:bodyPr/>
                    <a:lstStyle/>
                    <a:p>
                      <a:pPr>
                        <a:defRPr sz="1600">
                          <a:solidFill>
                            <a:srgbClr val="FFFFFF"/>
                          </a:solidFill>
                        </a:defRPr>
                      </a:pPr>
                      <a:r>
                        <a:t>Nuances, cas particuliers</a:t>
                      </a:r>
                    </a:p>
                  </a:txBody>
                  <a:tcPr>
                    <a:solidFill>
                      <a:srgbClr val="2A2A4A"/>
                    </a:solidFill>
                  </a:tcPr>
                </a:tc>
              </a:tr>
              <a:tr h="457200">
                <a:tc>
                  <a:txBody>
                    <a:bodyPr/>
                    <a:lstStyle/>
                    <a:p>
                      <a:pPr>
                        <a:defRPr sz="1600">
                          <a:solidFill>
                            <a:srgbClr val="FFFFFF"/>
                          </a:solidFill>
                        </a:defRPr>
                      </a:pPr>
                      <a:r>
                        <a:t>Catégories bureaucratiques</a:t>
                      </a:r>
                    </a:p>
                  </a:txBody>
                  <a:tcPr>
                    <a:solidFill>
                      <a:srgbClr val="2A2A4A"/>
                    </a:solidFill>
                  </a:tcPr>
                </a:tc>
                <a:tc>
                  <a:txBody>
                    <a:bodyPr/>
                    <a:lstStyle/>
                    <a:p>
                      <a:pPr>
                        <a:defRPr sz="1600">
                          <a:solidFill>
                            <a:srgbClr val="FFFFFF"/>
                          </a:solidFill>
                        </a:defRPr>
                      </a:pPr>
                      <a:r>
                        <a:t>Diversité sociale</a:t>
                      </a:r>
                    </a:p>
                  </a:txBody>
                  <a:tcPr>
                    <a:solidFill>
                      <a:srgbClr val="2A2A4A"/>
                    </a:solidFill>
                  </a:tcPr>
                </a:tc>
                <a:tc>
                  <a:txBody>
                    <a:bodyPr/>
                    <a:lstStyle/>
                    <a:p>
                      <a:pPr>
                        <a:defRPr sz="1600">
                          <a:solidFill>
                            <a:srgbClr val="FFFFFF"/>
                          </a:solidFill>
                        </a:defRPr>
                      </a:pPr>
                      <a:r>
                        <a:t>Singularités individuelles</a:t>
                      </a:r>
                    </a:p>
                  </a:txBody>
                  <a:tcPr>
                    <a:solidFill>
                      <a:srgbClr val="2A2A4A"/>
                    </a:solidFill>
                  </a:tcPr>
                </a:tc>
              </a:tr>
              <a:tr h="457200">
                <a:tc>
                  <a:txBody>
                    <a:bodyPr/>
                    <a:lstStyle/>
                    <a:p>
                      <a:pPr>
                        <a:defRPr sz="1600">
                          <a:solidFill>
                            <a:srgbClr val="FFFFFF"/>
                          </a:solidFill>
                        </a:defRPr>
                      </a:pPr>
                      <a:r>
                        <a:t>LLM</a:t>
                      </a:r>
                    </a:p>
                  </a:txBody>
                  <a:tcPr>
                    <a:solidFill>
                      <a:srgbClr val="2A2A4A"/>
                    </a:solidFill>
                  </a:tcPr>
                </a:tc>
                <a:tc>
                  <a:txBody>
                    <a:bodyPr/>
                    <a:lstStyle/>
                    <a:p>
                      <a:pPr>
                        <a:defRPr sz="1600">
                          <a:solidFill>
                            <a:srgbClr val="FFFFFF"/>
                          </a:solidFill>
                        </a:defRPr>
                      </a:pPr>
                      <a:r>
                        <a:t>Corpus textuels massifs</a:t>
                      </a:r>
                    </a:p>
                  </a:txBody>
                  <a:tcPr>
                    <a:solidFill>
                      <a:srgbClr val="2A2A4A"/>
                    </a:solidFill>
                  </a:tcPr>
                </a:tc>
                <a:tc>
                  <a:txBody>
                    <a:bodyPr/>
                    <a:lstStyle/>
                    <a:p>
                      <a:pPr>
                        <a:defRPr sz="1600">
                          <a:solidFill>
                            <a:srgbClr val="FFFFFF"/>
                          </a:solidFill>
                        </a:defRPr>
                      </a:pPr>
                      <a:r>
                        <a:t>Vérité, rareté, nouveauté</a:t>
                      </a:r>
                    </a:p>
                  </a:txBody>
                  <a:tcPr>
                    <a:solidFill>
                      <a:srgbClr val="2A2A4A"/>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La performativité</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"Performativity is a technology, a culture and a mode of regulation that employs judgements, comparisons and displays as means of incentive, control, attrition and change – based on rewards and sanctions (both material and symbolic)."</a:t>
            </a:r>
          </a:p>
          <a:p>
            <a:pPr algn="r">
              <a:defRPr sz="1600">
                <a:solidFill>
                  <a:srgbClr val="AAAAAA"/>
                </a:solidFill>
              </a:defRPr>
            </a:pPr>
            <a:r>
              <a:t>— Ball, S. J. (2003), p. 216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Trois technologies néolibérales</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Le marché : compétition, choix</a:t>
            </a:r>
          </a:p>
          <a:p>
            <a:pPr>
              <a:spcAft>
                <a:spcPts val="1200"/>
              </a:spcAft>
              <a:defRPr sz="2200">
                <a:solidFill>
                  <a:srgbClr val="FFFFFF"/>
                </a:solidFill>
              </a:defRPr>
            </a:pPr>
            <a:r>
              <a:t>• Le management : contrôle organisationnel</a:t>
            </a:r>
          </a:p>
          <a:p>
            <a:pPr>
              <a:spcAft>
                <a:spcPts val="1200"/>
              </a:spcAft>
              <a:defRPr sz="2200">
                <a:solidFill>
                  <a:srgbClr val="FFFFFF"/>
                </a:solidFill>
              </a:defRPr>
            </a:pPr>
            <a:r>
              <a:t>• La performance : mesure, comparaison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L'effet sur les professionnels</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Transformation de ce qu'ils font et de ce qu'ils sont</a:t>
            </a:r>
          </a:p>
          <a:p>
            <a:pPr>
              <a:spcAft>
                <a:spcPts val="1200"/>
              </a:spcAft>
              <a:defRPr sz="2200">
                <a:solidFill>
                  <a:srgbClr val="FFFFFF"/>
                </a:solidFill>
              </a:defRPr>
            </a:pPr>
            <a:r>
              <a:t>• Production de 'fabrications'</a:t>
            </a:r>
          </a:p>
          <a:p>
            <a:pPr>
              <a:spcAft>
                <a:spcPts val="1200"/>
              </a:spcAft>
              <a:defRPr sz="2200">
                <a:solidFill>
                  <a:srgbClr val="FFFFFF"/>
                </a:solidFill>
              </a:defRPr>
            </a:pPr>
            <a:r>
              <a:t>• Insécurité ontologique</a:t>
            </a:r>
          </a:p>
        </p:txBody>
      </p:sp>
      <p:sp>
        <p:nvSpPr>
          <p:cNvPr id="5" name="TextBox 4"/>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"We become ontologically insecure: unsure whether we are doing enough, doing the right thing, doing as much as others, constantly looking to improve, to be better, to be excellent."</a:t>
            </a:r>
          </a:p>
          <a:p>
            <a:pPr algn="r">
              <a:defRPr sz="1600">
                <a:solidFill>
                  <a:srgbClr val="AAAAAA"/>
                </a:solidFill>
              </a:defRPr>
            </a:pPr>
            <a:r>
              <a:t>— Ball (2003), p. 220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On a donc notre contexte social</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Les LLMs sont des technologies sociales</a:t>
            </a:r>
          </a:p>
          <a:p>
            <a:pPr>
              <a:spcAft>
                <a:spcPts val="1200"/>
              </a:spcAft>
              <a:defRPr sz="2200">
                <a:solidFill>
                  <a:srgbClr val="FFFFFF"/>
                </a:solidFill>
              </a:defRPr>
            </a:pPr>
            <a:r>
              <a:t>• Qui s'insèrent dans un régime de performativité qui crée la demande pour des outils de production rapide.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Fabrications</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"Fabrications are versions of an organization (or person) which does not exist – they are not 'outside the truth' but neither do they render simply true or direct accounts – they are produced purposefully in order 'to be accountable'."</a:t>
            </a:r>
          </a:p>
          <a:p>
            <a:pPr algn="r">
              <a:defRPr sz="1600">
                <a:solidFill>
                  <a:srgbClr val="AAAAAA"/>
                </a:solidFill>
              </a:defRPr>
            </a:pPr>
            <a:r>
              <a:t>— Ball (2003), p. 224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Les LLM et la science</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"To ask about LLMs and science is to ask what program was already running when they arrived. The program, as it turns out, had been running for decades, and it was not optimized for epistemic depth."</a:t>
            </a:r>
          </a:p>
          <a:p>
            <a:pPr algn="r">
              <a:defRPr sz="1600">
                <a:solidFill>
                  <a:srgbClr val="AAAAAA"/>
                </a:solidFill>
              </a:defRPr>
            </a:pPr>
            <a:r>
              <a:t>— Baker (2025), Artificial Bureaucracy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Métriques de citations</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Comment gérer un système qui produit plus de littérature que quiconque peut lire?</a:t>
            </a:r>
          </a:p>
        </p:txBody>
      </p:sp>
      <p:sp>
        <p:nvSpPr>
          <p:cNvPr id="5" name="TextBox 4"/>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"The intention was to solve an information overload problem—to help researchers find the important work in a flood of publication. This was a reasonable response to a real problem. But solutions curdle."</a:t>
            </a:r>
          </a:p>
          <a:p>
            <a:pPr algn="r">
              <a:defRPr sz="1600">
                <a:solidFill>
                  <a:srgbClr val="AAAAAA"/>
                </a:solidFill>
              </a:defRPr>
            </a:pPr>
            <a:r>
              <a:t>— Baker (2025)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Métriques de citations (2)</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"The metrics flattened this distinction into a single function: citation as credit, as endorsement, as vote. The measure becomes the target; the proxy becomes the prize."</a:t>
            </a:r>
          </a:p>
          <a:p>
            <a:pPr algn="r">
              <a:defRPr sz="1600">
                <a:solidFill>
                  <a:srgbClr val="AAAAAA"/>
                </a:solidFill>
              </a:defRPr>
            </a:pPr>
            <a:r>
              <a:t>— Baker (2025) - Déplacement des objectifs (Merton, 1940)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L'arrivée des LLMs</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"Into this context—a scientific system already optimized for measurable output, already decades into goal displacement, already reshaping research priorities around metrics rather than problems—arrive large language models."</a:t>
            </a:r>
          </a:p>
          <a:p>
            <a:pPr algn="r">
              <a:defRPr sz="1600">
                <a:solidFill>
                  <a:srgbClr val="AAAAAA"/>
                </a:solidFill>
              </a:defRPr>
            </a:pPr>
            <a:r>
              <a:t>— Baker (2025)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0"/>
            <a:ext cx="11277295" cy="1371600"/>
          </a:xfrm>
          <a:prstGeom prst="rect">
            <a:avLst/>
          </a:prstGeom>
          <a:noFill/>
        </p:spPr>
        <p:txBody>
          <a:bodyPr wrap="square">
            <a:spAutoFit/>
          </a:bodyPr>
          <a:lstStyle/>
          <a:p>
            <a:pPr algn="ctr">
              <a:defRPr sz="4400" b="1">
                <a:solidFill>
                  <a:srgbClr val="FFFFFF"/>
                </a:solidFill>
              </a:defRPr>
            </a:pPr>
            <a:r>
              <a:t>Il existe des données empiriques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Hao et al. (2026) - Nature</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41,3 millions d'articles (1980-2025)</a:t>
            </a:r>
          </a:p>
          <a:p>
            <a:pPr>
              <a:spcAft>
                <a:spcPts val="1200"/>
              </a:spcAft>
              <a:defRPr sz="2200">
                <a:solidFill>
                  <a:srgbClr val="FFFFFF"/>
                </a:solidFill>
              </a:defRPr>
            </a:pPr>
            <a:r>
              <a:t>• Artificial intelligence tools expand scientists' impact but contract science's focus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none">
            <a:spAutoFit/>
          </a:bodyPr>
          <a:lstStyle/>
          <a:p>
            <a:pPr>
              <a:defRPr sz="3200" b="1">
                <a:solidFill>
                  <a:srgbClr val="FFFFFF"/>
                </a:solidFill>
              </a:defRPr>
            </a:pPr>
            <a:r>
              <a:t>Le paradoxe individuel/collectif</a:t>
            </a:r>
          </a:p>
        </p:txBody>
      </p:sp>
      <p:graphicFrame>
        <p:nvGraphicFramePr>
          <p:cNvPr id="4" name="Table 3"/>
          <p:cNvGraphicFramePr>
            <a:graphicFrameLocks noGrp="1"/>
          </p:cNvGraphicFramePr>
          <p:nvPr/>
        </p:nvGraphicFramePr>
        <p:xfrm>
          <a:off x="457200" y="1371600"/>
          <a:ext cx="11277295" cy="1371600"/>
        </p:xfrm>
        <a:graphic>
          <a:graphicData uri="http://schemas.openxmlformats.org/drawingml/2006/table">
            <a:tbl>
              <a:tblPr firstRow="1" bandRow="1">
                <a:tableStyleId>{5C22544A-7EE6-4342-B048-85BDC9FD1C3A}</a:tableStyleId>
              </a:tblPr>
              <a:tblGrid>
                <a:gridCol w="5638647"/>
                <a:gridCol w="5638648"/>
              </a:tblGrid>
              <a:tr h="457200">
                <a:tc>
                  <a:txBody>
                    <a:bodyPr/>
                    <a:lstStyle/>
                    <a:p>
                      <a:pPr>
                        <a:defRPr b="1" sz="1800">
                          <a:solidFill>
                            <a:srgbClr val="FFFFFF"/>
                          </a:solidFill>
                        </a:defRPr>
                      </a:pPr>
                      <a:r>
                        <a:t>Niveau</a:t>
                      </a:r>
                    </a:p>
                  </a:txBody>
                  <a:tcPr>
                    <a:solidFill>
                      <a:srgbClr val="42AFFA"/>
                    </a:solidFill>
                  </a:tcPr>
                </a:tc>
                <a:tc>
                  <a:txBody>
                    <a:bodyPr/>
                    <a:lstStyle/>
                    <a:p>
                      <a:pPr>
                        <a:defRPr b="1" sz="1800">
                          <a:solidFill>
                            <a:srgbClr val="FFFFFF"/>
                          </a:solidFill>
                        </a:defRPr>
                      </a:pPr>
                      <a:r>
                        <a:t>Effet de l'IA</a:t>
                      </a:r>
                    </a:p>
                  </a:txBody>
                  <a:tcPr>
                    <a:solidFill>
                      <a:srgbClr val="42AFFA"/>
                    </a:solidFill>
                  </a:tcPr>
                </a:tc>
              </a:tr>
              <a:tr h="457200">
                <a:tc>
                  <a:txBody>
                    <a:bodyPr/>
                    <a:lstStyle/>
                    <a:p>
                      <a:pPr>
                        <a:defRPr sz="1600">
                          <a:solidFill>
                            <a:srgbClr val="FFFFFF"/>
                          </a:solidFill>
                        </a:defRPr>
                      </a:pPr>
                      <a:r>
                        <a:t>Individuel</a:t>
                      </a:r>
                    </a:p>
                  </a:txBody>
                  <a:tcPr>
                    <a:solidFill>
                      <a:srgbClr val="2A2A4A"/>
                    </a:solidFill>
                  </a:tcPr>
                </a:tc>
                <a:tc>
                  <a:txBody>
                    <a:bodyPr/>
                    <a:lstStyle/>
                    <a:p>
                      <a:pPr>
                        <a:defRPr sz="1600">
                          <a:solidFill>
                            <a:srgbClr val="FFFFFF"/>
                          </a:solidFill>
                        </a:defRPr>
                      </a:pPr>
                      <a:r>
                        <a:t>3 fois plus de publications, 4,8 fois plus de citations, -1,37 ans pour devenir PI</a:t>
                      </a:r>
                    </a:p>
                  </a:txBody>
                  <a:tcPr>
                    <a:solidFill>
                      <a:srgbClr val="2A2A4A"/>
                    </a:solidFill>
                  </a:tcPr>
                </a:tc>
              </a:tr>
              <a:tr h="457200">
                <a:tc>
                  <a:txBody>
                    <a:bodyPr/>
                    <a:lstStyle/>
                    <a:p>
                      <a:pPr>
                        <a:defRPr sz="1600">
                          <a:solidFill>
                            <a:srgbClr val="FFFFFF"/>
                          </a:solidFill>
                        </a:defRPr>
                      </a:pPr>
                      <a:r>
                        <a:t>Collectif</a:t>
                      </a:r>
                    </a:p>
                  </a:txBody>
                  <a:tcPr>
                    <a:solidFill>
                      <a:srgbClr val="2A2A4A"/>
                    </a:solidFill>
                  </a:tcPr>
                </a:tc>
                <a:tc>
                  <a:txBody>
                    <a:bodyPr/>
                    <a:lstStyle/>
                    <a:p>
                      <a:pPr>
                        <a:defRPr sz="1600">
                          <a:solidFill>
                            <a:srgbClr val="FFFFFF"/>
                          </a:solidFill>
                        </a:defRPr>
                      </a:pPr>
                      <a:r>
                        <a:t>-4,63% étendue des connaissances, -22% engagement mutuel</a:t>
                      </a:r>
                    </a:p>
                  </a:txBody>
                  <a:tcPr>
                    <a:solidFill>
                      <a:srgbClr val="2A2A4A"/>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Des sujets délaissés</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"What are the topics that are most likely to be left behind from AI-augmented research across fields? Those with less available data include critical scientific questions regarding the origins of natural phenomena, where data are necessarily reduced. This could shift collective attention away from new and original questions that lack the data required for AI to demonstrate benefit."</a:t>
            </a:r>
          </a:p>
          <a:p>
            <a:pPr algn="r">
              <a:defRPr sz="1600">
                <a:solidFill>
                  <a:srgbClr val="AAAAAA"/>
                </a:solidFill>
              </a:defRPr>
            </a:pPr>
            <a:r>
              <a:t>— Hao et al.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D'autres données empiriques</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Kusumegi et al. (2025) - Science</a:t>
            </a:r>
          </a:p>
          <a:p>
            <a:pPr>
              <a:spcAft>
                <a:spcPts val="1200"/>
              </a:spcAft>
              <a:defRPr sz="2200">
                <a:solidFill>
                  <a:srgbClr val="FFFFFF"/>
                </a:solidFill>
              </a:defRPr>
            </a:pPr>
            <a:r>
              <a:t>• Scientific production in the era of large language models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D'autres données empiriques (2)</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"The sharp contrast in quality assessments across the distribution of language complexity in the two groups—human-written and LLM-assisted manuscripts—confirms that complex LLM-generated language often disguises weak scientific contributions."</a:t>
            </a:r>
          </a:p>
          <a:p>
            <a:pPr algn="r">
              <a:defRPr sz="1600">
                <a:solidFill>
                  <a:srgbClr val="AAAAAA"/>
                </a:solidFill>
              </a:defRPr>
            </a:pPr>
            <a:r>
              <a:t>— Kusumegi et al. (2025)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Quels liens avec l'enseignement?</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Molesworth, Scullion &amp; Nixon (2011) - The Marketisation of Higher Education and the Student as Consumer</a:t>
            </a:r>
          </a:p>
          <a:p>
            <a:pPr>
              <a:spcAft>
                <a:spcPts val="1200"/>
              </a:spcAft>
              <a:defRPr sz="2200">
                <a:solidFill>
                  <a:srgbClr val="FFFFFF"/>
                </a:solidFill>
              </a:defRPr>
            </a:pPr>
            <a:r>
              <a:t>• Le versant étudiant de la performativité analysée par Ball chez les enseignants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L'étudiant comme consommateur</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"Students seek to have a degree rather than to be learners. Students have become well-tuned consumers, their wealth of experience in commercial markets has shaped much of the way they respond to their desires, to opportunity and to choices they face."</a:t>
            </a:r>
          </a:p>
          <a:p>
            <a:pPr algn="r">
              <a:defRPr sz="1600">
                <a:solidFill>
                  <a:srgbClr val="AAAAAA"/>
                </a:solidFill>
              </a:defRPr>
            </a:pPr>
            <a:r>
              <a:t>— Molesworth et al. (2009)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L'étudiant comme consommateur (2)</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"Education should create citizens who set their own interests aside for the greater good and who are willing to offer their knowledge and minds in the service of others. This is the opposite to the neo-liberal perspective of students and citizens pursuing their own self-interest."</a:t>
            </a:r>
          </a:p>
          <a:p>
            <a:pPr algn="r">
              <a:defRPr sz="1600">
                <a:solidFill>
                  <a:srgbClr val="AAAAAA"/>
                </a:solidFill>
              </a:defRPr>
            </a:pPr>
            <a:r>
              <a:t>— Nordensvärd, p. 166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Un diplôme comme 'ticket'</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Rendu plus accessible par l'utilisation des LLM</a:t>
            </a:r>
          </a:p>
        </p:txBody>
      </p:sp>
      <p:sp>
        <p:nvSpPr>
          <p:cNvPr id="5" name="TextBox 4"/>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"This presentation of HE as a 'ticket' creates the sense that in attending university, students are accessing (perhaps purchasing) the 'graduate premium' irrespective of the extent of their engagement with the learning process."</a:t>
            </a:r>
          </a:p>
          <a:p>
            <a:pPr algn="r">
              <a:defRPr sz="1600">
                <a:solidFill>
                  <a:srgbClr val="AAAAAA"/>
                </a:solidFill>
              </a:defRPr>
            </a:pPr>
            <a:r>
              <a:t>— Williams, citant Mandelson (2009)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Cognitive offloading</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"The balance here is ultimately between using AI as a true study aid in a way that facilitates meaningful learning, and using it to cognitively offload tasks in a way that hinders learning."</a:t>
            </a:r>
          </a:p>
          <a:p>
            <a:pPr algn="r">
              <a:defRPr sz="1600">
                <a:solidFill>
                  <a:srgbClr val="AAAAAA"/>
                </a:solidFill>
              </a:defRPr>
            </a:pPr>
            <a:r>
              <a:t>— UCL Laws (Veale et al., 2025)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Cognitive offloading (2)</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"Learning is the result of human grappling with the parts of the world that resist us. Education is, by necessity, inefficient."</a:t>
            </a:r>
          </a:p>
          <a:p>
            <a:pPr algn="r">
              <a:defRPr sz="1600">
                <a:solidFill>
                  <a:srgbClr val="AAAAAA"/>
                </a:solidFill>
              </a:defRPr>
            </a:pPr>
            <a:r>
              <a:t>— Drimmer et al. (2025), Four Frictions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Un 'cas pratique'</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Jj. (2025). The Copilot Delusion. deplet.ing</a:t>
            </a:r>
          </a:p>
          <a:p>
            <a:pPr>
              <a:spcAft>
                <a:spcPts val="1200"/>
              </a:spcAft>
              <a:defRPr sz="2200">
                <a:solidFill>
                  <a:srgbClr val="FFFFFF"/>
                </a:solidFill>
              </a:defRPr>
            </a:pPr>
            <a:r>
              <a:t>• Billet de blog</a:t>
            </a:r>
          </a:p>
          <a:p>
            <a:pPr>
              <a:spcAft>
                <a:spcPts val="1200"/>
              </a:spcAft>
              <a:defRPr sz="2200">
                <a:solidFill>
                  <a:srgbClr val="FFFFFF"/>
                </a:solidFill>
              </a:defRPr>
            </a:pPr>
            <a:r>
              <a:t>• Témoignage de praticien</a:t>
            </a:r>
          </a:p>
          <a:p>
            <a:pPr>
              <a:spcAft>
                <a:spcPts val="1200"/>
              </a:spcAft>
              <a:defRPr sz="2200">
                <a:solidFill>
                  <a:srgbClr val="FFFFFF"/>
                </a:solidFill>
              </a:defRPr>
            </a:pPr>
            <a:r>
              <a:t>• Un programmeur défendant son métier comme un art face à l'IA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Being vs having</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"I like to code. Not supervise. Not hover over a synthetic lobotomized chatbot like some drooling silicon intern... I want to build shit. Real shit. Weird shit. There was once magic here. There was once madness. Kids would stay up all night on IRC with bloodshot eyes, trying to render a cube in OpenGL without segfaulting their future. They cared."</a:t>
            </a:r>
          </a:p>
          <a:p>
            <a:pPr algn="r">
              <a:defRPr sz="1600">
                <a:solidFill>
                  <a:srgbClr val="AAAAAA"/>
                </a:solidFill>
              </a:defRPr>
            </a:pPr>
            <a:r>
              <a:t>— Jj (2025)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Contre le cognitive offloading</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"You want real connection to code? You earn that. You dig in. You wrestle with segfaults at 3 in the morning. When you outsource the thinking, you outsource the learning. You build taste by doing. By hurting. By shaving nanoseconds with surgical tools."</a:t>
            </a:r>
          </a:p>
          <a:p>
            <a:pPr algn="r">
              <a:defRPr sz="1600">
                <a:solidFill>
                  <a:srgbClr val="AAAAAA"/>
                </a:solidFill>
              </a:defRPr>
            </a:pPr>
            <a:r>
              <a:t>— Jj (2025)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Performativité vs qualité</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"My boss corners me. 'Why aren't you pairing more with him? He types twice as fast as you.' Of course he does. So does a cat having a seizure on a mechanical keyboard. But that doesn't mean it should be writing production code."</a:t>
            </a:r>
          </a:p>
          <a:p>
            <a:pPr algn="r">
              <a:defRPr sz="1600">
                <a:solidFill>
                  <a:srgbClr val="AAAAAA"/>
                </a:solidFill>
              </a:defRPr>
            </a:pPr>
            <a:r>
              <a:t>— Jj (2025)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Goal displacement</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"The real horror isn't that AI will take our jobs. It's that it will entice people who never wanted the job to begin with. People who don't care for quality... Vampires with SaaS dreams and Web3 in their LinkedIn bio."</a:t>
            </a:r>
          </a:p>
          <a:p>
            <a:pPr algn="r">
              <a:defRPr sz="1600">
                <a:solidFill>
                  <a:srgbClr val="AAAAAA"/>
                </a:solidFill>
              </a:defRPr>
            </a:pPr>
            <a:r>
              <a:t>— Jj (2025)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Goal displacement (2)</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"And what's worse, we'll normalize this mediocrity. Cement it in tooling. Turn it into a best practice. If that happens? If the last real programmers are drowned in a sea of button-clicking career-chasers - then I pity the smart outsider kids to come after me."</a:t>
            </a:r>
          </a:p>
          <a:p>
            <a:pPr algn="r">
              <a:defRPr sz="1600">
                <a:solidFill>
                  <a:srgbClr val="AAAAAA"/>
                </a:solidFill>
              </a:defRPr>
            </a:pPr>
            <a:r>
              <a:t>— Jj (2025)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Des points positifs tout de même</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Tactiques de résistance et d'appropriation (de Certeau, cité par Agirdag, 2025)</a:t>
            </a:r>
          </a:p>
          <a:p>
            <a:pPr>
              <a:spcAft>
                <a:spcPts val="1200"/>
              </a:spcAft>
              <a:defRPr sz="2200">
                <a:solidFill>
                  <a:srgbClr val="FFFFFF"/>
                </a:solidFill>
              </a:defRPr>
            </a:pPr>
            <a:r>
              <a:t>• Révéler les biais</a:t>
            </a:r>
          </a:p>
          <a:p>
            <a:pPr>
              <a:spcAft>
                <a:spcPts val="1200"/>
              </a:spcAft>
              <a:defRPr sz="2200">
                <a:solidFill>
                  <a:srgbClr val="FFFFFF"/>
                </a:solidFill>
              </a:defRPr>
            </a:pPr>
            <a:r>
              <a:t>• Comparer les modèles pour montrer que le savoir est situé</a:t>
            </a:r>
          </a:p>
          <a:p>
            <a:pPr>
              <a:spcAft>
                <a:spcPts val="1200"/>
              </a:spcAft>
              <a:defRPr sz="2200">
                <a:solidFill>
                  <a:srgbClr val="FFFFFF"/>
                </a:solidFill>
              </a:defRPr>
            </a:pPr>
            <a:r>
              <a:t>• Translanguaging: valoriser les répertoires multilingues des étudiants</a:t>
            </a:r>
          </a:p>
          <a:p>
            <a:pPr>
              <a:spcAft>
                <a:spcPts val="1200"/>
              </a:spcAft>
              <a:defRPr sz="2200">
                <a:solidFill>
                  <a:srgbClr val="FFFFFF"/>
                </a:solidFill>
              </a:defRPr>
            </a:pPr>
            <a:r>
              <a:t>• Literacy: conscience critique des contextes sociaux, culturels et politico-économiques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Des points positifs tout de même (2)</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"By wiring together so many perspectives across text, audio, and images, large models may allow us to discover unprecedented connections between them for the benefit of science and society. A more fundamental set of possibilities might open up if we deployed them as maps to explore formerly uncharted territory."</a:t>
            </a:r>
          </a:p>
          <a:p>
            <a:pPr algn="r">
              <a:defRPr sz="1600">
                <a:solidFill>
                  <a:srgbClr val="AAAAAA"/>
                </a:solidFill>
              </a:defRPr>
            </a:pPr>
            <a:r>
              <a:t>— Farrell et al. (2025), p. 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Au début de recherches fascinantes</a:t>
            </a:r>
          </a:p>
        </p:txBody>
      </p:sp>
      <p:sp>
        <p:nvSpPr>
          <p:cNvPr id="4" name="TextBox 3"/>
          <p:cNvSpPr txBox="1"/>
          <p:nvPr/>
        </p:nvSpPr>
        <p:spPr>
          <a:xfrm>
            <a:off x="731520" y="1188720"/>
            <a:ext cx="10515600" cy="3657600"/>
          </a:xfrm>
          <a:prstGeom prst="rect">
            <a:avLst/>
          </a:prstGeom>
          <a:noFill/>
        </p:spPr>
        <p:txBody>
          <a:bodyPr wrap="square">
            <a:spAutoFit/>
          </a:bodyPr>
          <a:lstStyle/>
          <a:p>
            <a:pPr>
              <a:defRPr sz="2000" i="1">
                <a:solidFill>
                  <a:srgbClr val="DDDDDD"/>
                </a:solidFill>
              </a:defRPr>
            </a:pPr>
            <a:r>
              <a:t>"Will large models lead to greater cultural homogeneity or greater fragmentation? Will they reinforce or undermine the social institutions of human discovery? Can large models be developed to enhance human creativity rather than to dull it?"</a:t>
            </a:r>
          </a:p>
          <a:p>
            <a:pPr algn="r">
              <a:defRPr sz="1600">
                <a:solidFill>
                  <a:srgbClr val="AAAAAA"/>
                </a:solidFill>
              </a:defRPr>
            </a:pPr>
            <a:r>
              <a:t>— Farrell et al. (2025), p. 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none">
            <a:spAutoFit/>
          </a:bodyPr>
          <a:lstStyle/>
          <a:p>
            <a:pPr>
              <a:defRPr sz="3200" b="1">
                <a:solidFill>
                  <a:srgbClr val="FFFFFF"/>
                </a:solidFill>
              </a:defRPr>
            </a:pPr>
            <a:r>
              <a:t>Modeste proposition - Étudier la 'prompting (l)iteracy'</a:t>
            </a:r>
          </a:p>
        </p:txBody>
      </p:sp>
      <p:graphicFrame>
        <p:nvGraphicFramePr>
          <p:cNvPr id="4" name="Table 3"/>
          <p:cNvGraphicFramePr>
            <a:graphicFrameLocks noGrp="1"/>
          </p:cNvGraphicFramePr>
          <p:nvPr/>
        </p:nvGraphicFramePr>
        <p:xfrm>
          <a:off x="457200" y="1371600"/>
          <a:ext cx="11277295" cy="2286000"/>
        </p:xfrm>
        <a:graphic>
          <a:graphicData uri="http://schemas.openxmlformats.org/drawingml/2006/table">
            <a:tbl>
              <a:tblPr firstRow="1" bandRow="1">
                <a:tableStyleId>{5C22544A-7EE6-4342-B048-85BDC9FD1C3A}</a:tableStyleId>
              </a:tblPr>
              <a:tblGrid>
                <a:gridCol w="3759098"/>
                <a:gridCol w="3759098"/>
                <a:gridCol w="3759099"/>
              </a:tblGrid>
              <a:tr h="457200">
                <a:tc>
                  <a:txBody>
                    <a:bodyPr/>
                    <a:lstStyle/>
                    <a:p>
                      <a:pPr>
                        <a:defRPr b="1" sz="1800">
                          <a:solidFill>
                            <a:srgbClr val="FFFFFF"/>
                          </a:solidFill>
                        </a:defRPr>
                      </a:pPr>
                      <a:r>
                        <a:t>Phase</a:t>
                      </a:r>
                    </a:p>
                  </a:txBody>
                  <a:tcPr>
                    <a:solidFill>
                      <a:srgbClr val="42AFFA"/>
                    </a:solidFill>
                  </a:tcPr>
                </a:tc>
                <a:tc>
                  <a:txBody>
                    <a:bodyPr/>
                    <a:lstStyle/>
                    <a:p>
                      <a:pPr>
                        <a:defRPr b="1" sz="1800">
                          <a:solidFill>
                            <a:srgbClr val="FFFFFF"/>
                          </a:solidFill>
                        </a:defRPr>
                      </a:pPr>
                      <a:r>
                        <a:t>Méthode</a:t>
                      </a:r>
                    </a:p>
                  </a:txBody>
                  <a:tcPr>
                    <a:solidFill>
                      <a:srgbClr val="42AFFA"/>
                    </a:solidFill>
                  </a:tcPr>
                </a:tc>
                <a:tc>
                  <a:txBody>
                    <a:bodyPr/>
                    <a:lstStyle/>
                    <a:p>
                      <a:pPr>
                        <a:defRPr b="1" sz="1800">
                          <a:solidFill>
                            <a:srgbClr val="FFFFFF"/>
                          </a:solidFill>
                        </a:defRPr>
                      </a:pPr>
                      <a:r>
                        <a:t>Données collectées</a:t>
                      </a:r>
                    </a:p>
                  </a:txBody>
                  <a:tcPr>
                    <a:solidFill>
                      <a:srgbClr val="42AFFA"/>
                    </a:solidFill>
                  </a:tcPr>
                </a:tc>
              </a:tr>
              <a:tr h="457200">
                <a:tc>
                  <a:txBody>
                    <a:bodyPr/>
                    <a:lstStyle/>
                    <a:p>
                      <a:pPr>
                        <a:defRPr sz="1600">
                          <a:solidFill>
                            <a:srgbClr val="FFFFFF"/>
                          </a:solidFill>
                        </a:defRPr>
                      </a:pPr>
                      <a:r>
                        <a:t>0. Recrutement</a:t>
                      </a:r>
                    </a:p>
                  </a:txBody>
                  <a:tcPr>
                    <a:solidFill>
                      <a:srgbClr val="2A2A4A"/>
                    </a:solidFill>
                  </a:tcPr>
                </a:tc>
                <a:tc>
                  <a:txBody>
                    <a:bodyPr/>
                    <a:lstStyle/>
                    <a:p>
                      <a:pPr>
                        <a:defRPr sz="1600">
                          <a:solidFill>
                            <a:srgbClr val="FFFFFF"/>
                          </a:solidFill>
                        </a:defRPr>
                      </a:pPr>
                      <a:r>
                        <a:t>Questionnaire en ligne</a:t>
                      </a:r>
                    </a:p>
                  </a:txBody>
                  <a:tcPr>
                    <a:solidFill>
                      <a:srgbClr val="2A2A4A"/>
                    </a:solidFill>
                  </a:tcPr>
                </a:tc>
                <a:tc>
                  <a:txBody>
                    <a:bodyPr/>
                    <a:lstStyle/>
                    <a:p>
                      <a:pPr>
                        <a:defRPr sz="1600">
                          <a:solidFill>
                            <a:srgbClr val="FFFFFF"/>
                          </a:solidFill>
                        </a:defRPr>
                      </a:pPr>
                      <a:r>
                        <a:t>Profil sociolinguistique, consentement</a:t>
                      </a:r>
                    </a:p>
                  </a:txBody>
                  <a:tcPr>
                    <a:solidFill>
                      <a:srgbClr val="2A2A4A"/>
                    </a:solidFill>
                  </a:tcPr>
                </a:tc>
              </a:tr>
              <a:tr h="457200">
                <a:tc>
                  <a:txBody>
                    <a:bodyPr/>
                    <a:lstStyle/>
                    <a:p>
                      <a:pPr>
                        <a:defRPr sz="1600">
                          <a:solidFill>
                            <a:srgbClr val="FFFFFF"/>
                          </a:solidFill>
                        </a:defRPr>
                      </a:pPr>
                      <a:r>
                        <a:t>1. Session observée</a:t>
                      </a:r>
                    </a:p>
                  </a:txBody>
                  <a:tcPr>
                    <a:solidFill>
                      <a:srgbClr val="2A2A4A"/>
                    </a:solidFill>
                  </a:tcPr>
                </a:tc>
                <a:tc>
                  <a:txBody>
                    <a:bodyPr/>
                    <a:lstStyle/>
                    <a:p>
                      <a:pPr>
                        <a:defRPr sz="1600">
                          <a:solidFill>
                            <a:srgbClr val="FFFFFF"/>
                          </a:solidFill>
                        </a:defRPr>
                      </a:pPr>
                      <a:r>
                        <a:t>Observation filmée + think-aloud</a:t>
                      </a:r>
                    </a:p>
                  </a:txBody>
                  <a:tcPr>
                    <a:solidFill>
                      <a:srgbClr val="2A2A4A"/>
                    </a:solidFill>
                  </a:tcPr>
                </a:tc>
                <a:tc>
                  <a:txBody>
                    <a:bodyPr/>
                    <a:lstStyle/>
                    <a:p>
                      <a:pPr>
                        <a:defRPr sz="1600">
                          <a:solidFill>
                            <a:srgbClr val="FFFFFF"/>
                          </a:solidFill>
                        </a:defRPr>
                      </a:pPr>
                      <a:r>
                        <a:t>Vidéo écran + participant</a:t>
                      </a:r>
                    </a:p>
                  </a:txBody>
                  <a:tcPr>
                    <a:solidFill>
                      <a:srgbClr val="2A2A4A"/>
                    </a:solidFill>
                  </a:tcPr>
                </a:tc>
              </a:tr>
              <a:tr h="457200">
                <a:tc>
                  <a:txBody>
                    <a:bodyPr/>
                    <a:lstStyle/>
                    <a:p>
                      <a:pPr>
                        <a:defRPr sz="1600">
                          <a:solidFill>
                            <a:srgbClr val="FFFFFF"/>
                          </a:solidFill>
                        </a:defRPr>
                      </a:pPr>
                      <a:r>
                        <a:t>2. Export des traces</a:t>
                      </a:r>
                    </a:p>
                  </a:txBody>
                  <a:tcPr>
                    <a:solidFill>
                      <a:srgbClr val="2A2A4A"/>
                    </a:solidFill>
                  </a:tcPr>
                </a:tc>
                <a:tc>
                  <a:txBody>
                    <a:bodyPr/>
                    <a:lstStyle/>
                    <a:p>
                      <a:pPr>
                        <a:defRPr sz="1600">
                          <a:solidFill>
                            <a:srgbClr val="FFFFFF"/>
                          </a:solidFill>
                        </a:defRPr>
                      </a:pPr>
                      <a:r>
                        <a:t>API Microsoft Copilot</a:t>
                      </a:r>
                    </a:p>
                  </a:txBody>
                  <a:tcPr>
                    <a:solidFill>
                      <a:srgbClr val="2A2A4A"/>
                    </a:solidFill>
                  </a:tcPr>
                </a:tc>
                <a:tc>
                  <a:txBody>
                    <a:bodyPr/>
                    <a:lstStyle/>
                    <a:p>
                      <a:pPr>
                        <a:defRPr sz="1600">
                          <a:solidFill>
                            <a:srgbClr val="FFFFFF"/>
                          </a:solidFill>
                        </a:defRPr>
                      </a:pPr>
                      <a:r>
                        <a:t>Logs: prompts, réponses</a:t>
                      </a:r>
                    </a:p>
                  </a:txBody>
                  <a:tcPr>
                    <a:solidFill>
                      <a:srgbClr val="2A2A4A"/>
                    </a:solidFill>
                  </a:tcPr>
                </a:tc>
              </a:tr>
              <a:tr h="457200">
                <a:tc>
                  <a:txBody>
                    <a:bodyPr/>
                    <a:lstStyle/>
                    <a:p>
                      <a:pPr>
                        <a:defRPr sz="1600">
                          <a:solidFill>
                            <a:srgbClr val="FFFFFF"/>
                          </a:solidFill>
                        </a:defRPr>
                      </a:pPr>
                      <a:r>
                        <a:t>3. Débrief filmé</a:t>
                      </a:r>
                    </a:p>
                  </a:txBody>
                  <a:tcPr>
                    <a:solidFill>
                      <a:srgbClr val="2A2A4A"/>
                    </a:solidFill>
                  </a:tcPr>
                </a:tc>
                <a:tc>
                  <a:txBody>
                    <a:bodyPr/>
                    <a:lstStyle/>
                    <a:p>
                      <a:pPr>
                        <a:defRPr sz="1600">
                          <a:solidFill>
                            <a:srgbClr val="FFFFFF"/>
                          </a:solidFill>
                        </a:defRPr>
                      </a:pPr>
                      <a:r>
                        <a:t>Entretien semi-directif</a:t>
                      </a:r>
                    </a:p>
                  </a:txBody>
                  <a:tcPr>
                    <a:solidFill>
                      <a:srgbClr val="2A2A4A"/>
                    </a:solidFill>
                  </a:tcPr>
                </a:tc>
                <a:tc>
                  <a:txBody>
                    <a:bodyPr/>
                    <a:lstStyle/>
                    <a:p>
                      <a:pPr>
                        <a:defRPr sz="1600">
                          <a:solidFill>
                            <a:srgbClr val="FFFFFF"/>
                          </a:solidFill>
                        </a:defRPr>
                      </a:pPr>
                      <a:r>
                        <a:t>Réflexivité stimulée</a:t>
                      </a:r>
                    </a:p>
                  </a:txBody>
                  <a:tcPr>
                    <a:solidFill>
                      <a:srgbClr val="2A2A4A"/>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0"/>
            <a:ext cx="11277295" cy="1828800"/>
          </a:xfrm>
          <a:prstGeom prst="rect">
            <a:avLst/>
          </a:prstGeom>
          <a:noFill/>
        </p:spPr>
        <p:txBody>
          <a:bodyPr wrap="square">
            <a:spAutoFit/>
          </a:bodyPr>
          <a:lstStyle/>
          <a:p>
            <a:pPr algn="ctr">
              <a:defRPr sz="4000" b="1">
                <a:solidFill>
                  <a:srgbClr val="FFFFFF"/>
                </a:solidFill>
              </a:defRPr>
            </a:pPr>
            <a:r>
              <a:t>Merci pour votre attention</a:t>
            </a:r>
          </a:p>
        </p:txBody>
      </p:sp>
      <p:sp>
        <p:nvSpPr>
          <p:cNvPr id="4" name="TextBox 3"/>
          <p:cNvSpPr txBox="1"/>
          <p:nvPr/>
        </p:nvSpPr>
        <p:spPr>
          <a:xfrm>
            <a:off x="457200" y="4114800"/>
            <a:ext cx="11277295" cy="457200"/>
          </a:xfrm>
          <a:prstGeom prst="rect">
            <a:avLst/>
          </a:prstGeom>
          <a:noFill/>
        </p:spPr>
        <p:txBody>
          <a:bodyPr wrap="none">
            <a:spAutoFit/>
          </a:bodyPr>
          <a:lstStyle/>
          <a:p>
            <a:pPr algn="ctr">
              <a:defRPr sz="2400" b="1">
                <a:solidFill>
                  <a:srgbClr val="FFFFFF"/>
                </a:solidFill>
              </a:defRPr>
            </a:pPr>
            <a:r>
              <a:t>Nathanaël Friant</a:t>
            </a:r>
          </a:p>
        </p:txBody>
      </p:sp>
      <p:sp>
        <p:nvSpPr>
          <p:cNvPr id="5" name="TextBox 4"/>
          <p:cNvSpPr txBox="1"/>
          <p:nvPr/>
        </p:nvSpPr>
        <p:spPr>
          <a:xfrm>
            <a:off x="457200" y="4572000"/>
            <a:ext cx="11277295" cy="457200"/>
          </a:xfrm>
          <a:prstGeom prst="rect">
            <a:avLst/>
          </a:prstGeom>
          <a:noFill/>
        </p:spPr>
        <p:txBody>
          <a:bodyPr wrap="none">
            <a:spAutoFit/>
          </a:bodyPr>
          <a:lstStyle/>
          <a:p>
            <a:pPr algn="ctr">
              <a:defRPr sz="2000">
                <a:solidFill>
                  <a:srgbClr val="CCCCCC"/>
                </a:solidFill>
              </a:defRPr>
            </a:pPr>
            <a:r>
              <a:t>Université libre de Bruxelles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Note sur l'utilisation de LLMs</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Claude Opus 4.5 a été utilisé pour m'aider à articuler les sources éparses collectées.</a:t>
            </a:r>
          </a:p>
          <a:p>
            <a:pPr>
              <a:spcAft>
                <a:spcPts val="1200"/>
              </a:spcAft>
              <a:defRPr sz="2200">
                <a:solidFill>
                  <a:srgbClr val="FFFFFF"/>
                </a:solidFill>
              </a:defRPr>
            </a:pPr>
            <a:r>
              <a:t>• Une première présentation a été entièrement créée par Claude: https://nathfriant.github.io/llm-performativite/</a:t>
            </a:r>
          </a:p>
          <a:p>
            <a:pPr>
              <a:spcAft>
                <a:spcPts val="1200"/>
              </a:spcAft>
              <a:defRPr sz="2200">
                <a:solidFill>
                  <a:srgbClr val="FFFFFF"/>
                </a:solidFill>
              </a:defRPr>
            </a:pPr>
            <a:r>
              <a:t>• J'ai entièrement recréé une nouvelle présentation: celle-ci.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77295" cy="914400"/>
          </a:xfrm>
          <a:prstGeom prst="rect">
            <a:avLst/>
          </a:prstGeom>
          <a:noFill/>
        </p:spPr>
        <p:txBody>
          <a:bodyPr wrap="square">
            <a:spAutoFit/>
          </a:bodyPr>
          <a:lstStyle/>
          <a:p>
            <a:pPr algn="l">
              <a:defRPr sz="3200" b="1">
                <a:solidFill>
                  <a:srgbClr val="FFFFFF"/>
                </a:solidFill>
              </a:defRPr>
            </a:pPr>
            <a:r>
              <a:t>Licence</a:t>
            </a:r>
          </a:p>
        </p:txBody>
      </p:sp>
      <p:sp>
        <p:nvSpPr>
          <p:cNvPr id="4" name="TextBox 3"/>
          <p:cNvSpPr txBox="1"/>
          <p:nvPr/>
        </p:nvSpPr>
        <p:spPr>
          <a:xfrm>
            <a:off x="457200" y="1188720"/>
            <a:ext cx="11277295" cy="4572000"/>
          </a:xfrm>
          <a:prstGeom prst="rect">
            <a:avLst/>
          </a:prstGeom>
          <a:noFill/>
        </p:spPr>
        <p:txBody>
          <a:bodyPr wrap="square">
            <a:spAutoFit/>
          </a:bodyPr>
          <a:lstStyle/>
          <a:p>
            <a:pPr>
              <a:spcAft>
                <a:spcPts val="1200"/>
              </a:spcAft>
              <a:defRPr sz="2200">
                <a:solidFill>
                  <a:srgbClr val="FFFFFF"/>
                </a:solidFill>
              </a:defRPr>
            </a:pPr>
            <a:r>
              <a:t>• Cette œuvre est mise à disposition selon les termes de la licence Creative Commons Attribution - Pas d'Utilisation Commerciale - Partage dans les Mêmes Conditions 4.0 International</a:t>
            </a:r>
          </a:p>
          <a:p>
            <a:pPr>
              <a:spcAft>
                <a:spcPts val="1200"/>
              </a:spcAft>
              <a:defRPr sz="2200">
                <a:solidFill>
                  <a:srgbClr val="FFFFFF"/>
                </a:solidFill>
              </a:defRPr>
            </a:pPr>
            <a:r>
              <a:t>• https://creativecommons.org/licenses/by-nc-sa/4.0/</a:t>
            </a:r>
          </a:p>
          <a:p>
            <a:pPr>
              <a:spcAft>
                <a:spcPts val="1200"/>
              </a:spcAft>
              <a:defRPr sz="2200">
                <a:solidFill>
                  <a:srgbClr val="FFFFFF"/>
                </a:solidFill>
              </a:defRPr>
            </a:pPr>
            <a:r>
              <a:t>• © 2026 Nathanaël Friant - Université libre de Bruxelles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