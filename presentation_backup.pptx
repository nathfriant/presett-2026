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3389/fcell.2023.1339390" TargetMode="External" /><Relationship Id="rId3" Type="http://schemas.openxmlformats.org/officeDocument/2006/relationships/hyperlink" Target="https://doi.org/10.1080/0268093022000043065" TargetMode="External" /><Relationship Id="rId4" Type="http://schemas.openxmlformats.org/officeDocument/2006/relationships/hyperlink" Target="https://artificialbureaucracy.substack.com/p/context-widows" TargetMode="External" /><Relationship Id="rId5" Type="http://schemas.openxmlformats.org/officeDocument/2006/relationships/hyperlink" Target="https://doi.org/10.1038/s41586-025-09922-y" TargetMode="External" /><Relationship Id="rId6" Type="http://schemas.openxmlformats.org/officeDocument/2006/relationships/hyperlink" Target="https://doi.org/10.1126/science.adw3000" TargetMode="External" /><Relationship Id="rId7" Type="http://schemas.openxmlformats.org/officeDocument/2006/relationships/hyperlink" Target="https://www.publicbooks.org/four-frictions-or-how-to-resist-ai-in-education/" TargetMode="External" /><Relationship Id="rId8" Type="http://schemas.openxmlformats.org/officeDocument/2006/relationships/hyperlink" Target="https://deplet.ing/the-copilot-delusion/" TargetMode="External" /><Relationship Id="rId9" Type="http://schemas.openxmlformats.org/officeDocument/2006/relationships/hyperlink" Target="https://doi.org/10.1111/edth.70057" TargetMode="External" /><Relationship Id="rId10" Type="http://schemas.openxmlformats.org/officeDocument/2006/relationships/hyperlink" Target="https://nathfriant.github.io/llm-performativite/" TargetMode="External" /><Relationship Id="rId11" Type="http://schemas.openxmlformats.org/officeDocument/2006/relationships/hyperlink" Target="https://creativecommons.org/licenses/by-nc-sa/4.0/" TargetMode="External" /><Relationship Id="rId12" Type="http://schemas.openxmlformats.org/officeDocument/2006/relationships/hyperlink" Target="https://creativecommons.org/licenses/by-nc-sa/4.0/"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LLMs et emballement de la performativité</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LLMs et emballement de la performativité dans l'enseignement supérieur</a:t>
            </a:r>
          </a:p>
          <a:p>
            <a:pPr lvl="0" indent="0" marL="0">
              <a:buNone/>
            </a:pPr>
            <a:r>
              <a:rPr b="1"/>
              <a:t>Nathanaël Friant</a:t>
            </a:r>
          </a:p>
          <a:p>
            <a:pPr lvl="0" indent="0" marL="0">
              <a:buNone/>
            </a:pPr>
            <a:r>
              <a:rPr/>
              <a:t>Université libre de Bruxelles</a:t>
            </a:r>
          </a:p>
          <a:p>
            <a:pPr lvl="0" indent="0" marL="0">
              <a:buNone/>
            </a:pPr>
            <a:r>
              <a:rPr i="1"/>
              <a:t>Pré-SETT - 28 Janvier 2026</a:t>
            </a:r>
          </a:p>
          <a:p>
            <a:pPr lvl="0" indent="0" marL="0">
              <a:spcBef>
                <a:spcPts val="3000"/>
              </a:spcBef>
              <a:buNone/>
            </a:pPr>
            <a:r>
              <a:rPr b="1"/>
              <a:t>Une communication différente</a:t>
            </a:r>
          </a:p>
          <a:p>
            <a:pPr lvl="0"/>
            <a:r>
              <a:rPr/>
              <a:t>Point de départ: vécu personnel</a:t>
            </a:r>
          </a:p>
          <a:p>
            <a:pPr lvl="0"/>
            <a:r>
              <a:rPr/>
              <a:t>Expérimentations avec les LLM</a:t>
            </a:r>
          </a:p>
          <a:p>
            <a:pPr lvl="0"/>
            <a:r>
              <a:rPr/>
              <a:t>Vécu de prof. depuis l'intérieur de l'université</a:t>
            </a:r>
          </a:p>
          <a:p>
            <a:pPr lvl="0"/>
            <a:r>
              <a:rPr/>
              <a:t>Sérendipité</a:t>
            </a:r>
          </a:p>
          <a:p>
            <a:pPr lvl="0" indent="0" marL="0">
              <a:buNone/>
            </a:pPr>
            <a:r>
              <a:rPr b="1"/>
              <a:t>Résultat: notes éparses, lecture et enregistrement d'une collection d'articles scientifiques et de billets de blogs, liens entre concepts</a:t>
            </a:r>
          </a:p>
          <a:p>
            <a:pPr lvl="0" indent="0" marL="0">
              <a:spcBef>
                <a:spcPts val="3000"/>
              </a:spcBef>
              <a:buNone/>
            </a:pPr>
            <a:r>
              <a:rPr b="1"/>
              <a:t>Une solution pour en faire une présentation?</a:t>
            </a:r>
          </a:p>
          <a:p>
            <a:pPr lvl="0" indent="0" marL="0">
              <a:buNone/>
            </a:pPr>
            <a:r>
              <a:rPr/>
              <a:t>Claude Code screenshot 1 (Claude Code, modèle Opus 4.5)</a:t>
            </a:r>
          </a:p>
          <a:p>
            <a:pPr lvl="0" indent="0" marL="0">
              <a:spcBef>
                <a:spcPts val="3000"/>
              </a:spcBef>
              <a:buNone/>
            </a:pPr>
            <a:r>
              <a:rPr b="1"/>
              <a:t>Une solution pour en faire une présentation? (2)</a:t>
            </a:r>
          </a:p>
          <a:p>
            <a:pPr lvl="0" indent="0" marL="0">
              <a:buNone/>
            </a:pPr>
            <a:r>
              <a:rPr/>
              <a:t>Claude Code screenshot 2 (Claude Code, modèle Opus 4.5)</a:t>
            </a:r>
          </a:p>
          <a:p>
            <a:pPr lvl="0" indent="0" marL="0">
              <a:buNone/>
            </a:pPr>
            <a:r>
              <a:rPr/>
              <a:t>Et franchement, j'aurais pu arrêter là ma préparation.</a:t>
            </a:r>
          </a:p>
          <a:p>
            <a:pPr lvl="0" indent="0" marL="0">
              <a:buNone/>
            </a:pPr>
            <a:r>
              <a:rPr/>
              <a:t>La présentation était très bien. Je connaissais les articles pour les avoir lus.</a:t>
            </a:r>
          </a:p>
          <a:p>
            <a:pPr lvl="0" indent="0" marL="0">
              <a:buNone/>
            </a:pPr>
            <a:r>
              <a:rPr/>
              <a:t>Mais cela aurait-il été correct?</a:t>
            </a:r>
          </a:p>
          <a:p>
            <a:pPr lvl="0" indent="0" marL="0">
              <a:spcBef>
                <a:spcPts val="3000"/>
              </a:spcBef>
              <a:buNone/>
            </a:pPr>
            <a:r>
              <a:rPr b="1"/>
              <a:t>Il y aurait pu avoir des erreurs</a:t>
            </a:r>
          </a:p>
          <a:p>
            <a:pPr lvl="0" indent="0" marL="0">
              <a:buNone/>
            </a:pPr>
            <a:r>
              <a:rPr/>
              <a:t>Retracted paper example Guo, X., Dong, L., &amp; Hao, D. (2024). RETRACTED : Cellular functions of spermatogonial stem cells in relation to JAK/STAT signaling pathway. </a:t>
            </a:r>
            <a:r>
              <a:rPr i="1"/>
              <a:t>Frontiers in Cell and Developmental Biology</a:t>
            </a:r>
            <a:r>
              <a:rPr/>
              <a:t>, 11, 1339390. </a:t>
            </a:r>
            <a:r>
              <a:rPr>
                <a:hlinkClick r:id="rId2"/>
              </a:rPr>
              <a:t>https://doi.org/10.3389/fcell.2023.1339390</a:t>
            </a:r>
          </a:p>
          <a:p>
            <a:pPr lvl="0" indent="0" marL="0">
              <a:spcBef>
                <a:spcPts val="3000"/>
              </a:spcBef>
              <a:buNone/>
            </a:pPr>
            <a:r>
              <a:rPr b="1"/>
              <a:t>Pourquoi ai-je procédé de la sorte?</a:t>
            </a:r>
          </a:p>
          <a:p>
            <a:pPr lvl="0" indent="0" marL="0">
              <a:buNone/>
            </a:pPr>
            <a:r>
              <a:rPr/>
              <a:t>Mon hypothèse est que, comme chargé de cours à l'université, les LLM m'offrent une échappatoire apparente à la tension créée par la </a:t>
            </a:r>
            <a:r>
              <a:rPr b="1"/>
              <a:t>performativité.</a:t>
            </a:r>
          </a:p>
          <a:p>
            <a:pPr lvl="0" indent="0" marL="0">
              <a:buNone/>
            </a:pPr>
            <a:r>
              <a:rPr/>
              <a:t>Ils me permettent de performer. Mais ils peuvent m'empêcher d'être.</a:t>
            </a:r>
          </a:p>
          <a:p>
            <a:pPr lvl="0" indent="0" marL="0">
              <a:spcBef>
                <a:spcPts val="3000"/>
              </a:spcBef>
              <a:buNone/>
            </a:pPr>
            <a:r>
              <a:rPr b="1"/>
              <a:t>Le problème</a:t>
            </a:r>
          </a:p>
          <a:p>
            <a:pPr lvl="0" indent="0" marL="0">
              <a:buNone/>
            </a:pPr>
            <a:r>
              <a:rPr/>
              <a:t>En me permettant cela, les LLMs s'insèrent dans une </a:t>
            </a:r>
            <a:r>
              <a:rPr b="1"/>
              <a:t>boucle de rétroaction</a:t>
            </a:r>
            <a:r>
              <a:rPr/>
              <a:t> qui intensifie collectivement ce qu'ils semblent résoudre individuellement.</a:t>
            </a:r>
          </a:p>
          <a:p>
            <a:pPr lvl="0" indent="0" marL="0">
              <a:spcBef>
                <a:spcPts val="3000"/>
              </a:spcBef>
              <a:buNone/>
            </a:pPr>
            <a:r>
              <a:rPr b="1"/>
              <a:t>Mon cadre théorique</a:t>
            </a:r>
          </a:p>
          <a:p>
            <a:pPr lvl="0" indent="0" marL="0">
              <a:spcBef>
                <a:spcPts val="3000"/>
              </a:spcBef>
              <a:buNone/>
            </a:pPr>
            <a:r>
              <a:rPr b="1"/>
              <a:t>Des technologies culturelles et sociales</a:t>
            </a:r>
          </a:p>
          <a:p>
            <a:pPr lvl="0" indent="0" marL="1270000">
              <a:buNone/>
            </a:pPr>
            <a:r>
              <a:rPr sz="2000"/>
              <a:t>"Large models should not be viewed primarily as intelligent agents but as a new kind of cultural and social technology, allowing humans to take advantage of information other humans have accumulated." (p. 1153)</a:t>
            </a:r>
          </a:p>
          <a:p>
            <a:pPr lvl="0" indent="0" marL="0">
              <a:buNone/>
            </a:pPr>
            <a:r>
              <a:rPr/>
              <a:t>Farrell, H., Gopnik, A., Shalizi, C., &amp; Evans, J. (2025). Large AI models are cultural and social technologies. </a:t>
            </a:r>
            <a:r>
              <a:rPr i="1"/>
              <a:t>Science</a:t>
            </a:r>
            <a:r>
              <a:rPr/>
              <a:t>, 387(6739), 1153-1156.</a:t>
            </a:r>
          </a:p>
          <a:p>
            <a:pPr lvl="0" indent="0" marL="0">
              <a:spcBef>
                <a:spcPts val="3000"/>
              </a:spcBef>
              <a:buNone/>
            </a:pPr>
            <a:r>
              <a:rPr b="1"/>
              <a:t>Des technologies culturelles et sociales (2)</a:t>
            </a:r>
          </a:p>
          <a:p>
            <a:pPr lvl="0" indent="0" marL="1270000">
              <a:buNone/>
            </a:pPr>
            <a:r>
              <a:rPr sz="2000"/>
              <a:t>"But these systems do not merely summarize this information, like library catalogs, internet search, and Wikipedia. They also can reorganize and reconstruct representations or 'simulations' of this information at scale and in new ways, like markets, states, and bureaucracies." (p. 1154)</a:t>
            </a:r>
          </a:p>
          <a:p>
            <a:pPr lvl="0" indent="0" marL="0">
              <a:buNone/>
            </a:pPr>
            <a:r>
              <a:rPr/>
              <a:t>Farrell, H., Gopnik, A., Shalizi, C., &amp; Evans, J. (2025). Large AI models are cultural and social technologies. </a:t>
            </a:r>
            <a:r>
              <a:rPr i="1"/>
              <a:t>Science</a:t>
            </a:r>
            <a:r>
              <a:rPr/>
              <a:t>, 387(6739), 1153-1156.</a:t>
            </a:r>
          </a:p>
          <a:p>
            <a:pPr lvl="0" indent="0" marL="0">
              <a:spcBef>
                <a:spcPts val="3000"/>
              </a:spcBef>
              <a:buNone/>
            </a:pPr>
            <a:r>
              <a:rPr b="1"/>
              <a:t>Des représentations avec pertes</a:t>
            </a:r>
          </a:p>
          <a:p>
            <a:pPr lvl="0" indent="0" marL="0">
              <a:buNone/>
            </a:pPr>
            <a:r>
              <a:rPr/>
              <a:t>"Lossy JPEGS"</a:t>
            </a:r>
          </a:p>
          <a:p>
            <a:pPr lvl="0" indent="0" marL="0">
              <a:spcBef>
                <a:spcPts val="3000"/>
              </a:spcBef>
              <a:buNone/>
            </a:pPr>
            <a:r>
              <a:rPr b="1"/>
              <a:t>La performativité</a:t>
            </a:r>
          </a:p>
          <a:p>
            <a:pPr lvl="0" indent="0" marL="1270000">
              <a:buNone/>
            </a:pPr>
            <a:r>
              <a:rPr sz="2000"/>
              <a:t>"Performativity is a technology, a culture and a mode of regulation that employs judgements, comparisons and displays as means of incentive, control, attrition and change – based on rewards and sanctions (both material and symbolic)." (p. 216)</a:t>
            </a:r>
          </a:p>
          <a:p>
            <a:pPr lvl="0" indent="0" marL="0">
              <a:buNone/>
            </a:pPr>
            <a:r>
              <a:rPr/>
              <a:t>Ball, S. J. (2003). The teacher's soul and the terrors of performativity. </a:t>
            </a:r>
            <a:r>
              <a:rPr i="1"/>
              <a:t>Journal of Education Policy</a:t>
            </a:r>
            <a:r>
              <a:rPr/>
              <a:t>, 18(2), 215-228. </a:t>
            </a:r>
            <a:r>
              <a:rPr>
                <a:hlinkClick r:id="rId3"/>
              </a:rPr>
              <a:t>https://doi.org/10.1080/0268093022000043065</a:t>
            </a:r>
          </a:p>
          <a:p>
            <a:pPr lvl="0" indent="0" marL="0">
              <a:spcBef>
                <a:spcPts val="3000"/>
              </a:spcBef>
              <a:buNone/>
            </a:pPr>
            <a:r>
              <a:rPr b="1"/>
              <a:t>Trois technologies néolibérales</a:t>
            </a:r>
          </a:p>
          <a:p>
            <a:pPr lvl="0" indent="-342900" marL="342900">
              <a:buAutoNum type="arabicPeriod"/>
            </a:pPr>
            <a:r>
              <a:rPr b="1"/>
              <a:t>Le marché</a:t>
            </a:r>
            <a:r>
              <a:rPr/>
              <a:t> : compétition, choix</a:t>
            </a:r>
          </a:p>
          <a:p>
            <a:pPr lvl="0" indent="-342900" marL="342900">
              <a:buAutoNum type="arabicPeriod"/>
            </a:pPr>
            <a:r>
              <a:rPr b="1"/>
              <a:t>Le management</a:t>
            </a:r>
            <a:r>
              <a:rPr/>
              <a:t> : contrôle organisationnel</a:t>
            </a:r>
          </a:p>
          <a:p>
            <a:pPr lvl="0" indent="-342900" marL="342900">
              <a:buAutoNum type="arabicPeriod"/>
            </a:pPr>
            <a:r>
              <a:rPr b="1"/>
              <a:t>La performance</a:t>
            </a:r>
            <a:r>
              <a:rPr/>
              <a:t> : mesure, comparaison</a:t>
            </a:r>
          </a:p>
          <a:p>
            <a:pPr lvl="0" indent="0" marL="0">
              <a:spcBef>
                <a:spcPts val="3000"/>
              </a:spcBef>
              <a:buNone/>
            </a:pPr>
            <a:r>
              <a:rPr b="1"/>
              <a:t>L'effet sur les professionnels</a:t>
            </a:r>
          </a:p>
          <a:p>
            <a:pPr lvl="0"/>
            <a:r>
              <a:rPr/>
              <a:t>Transformation de ce qu'ils </a:t>
            </a:r>
            <a:r>
              <a:rPr i="1"/>
              <a:t>font</a:t>
            </a:r>
            <a:r>
              <a:rPr/>
              <a:t> et de ce qu'ils </a:t>
            </a:r>
            <a:r>
              <a:rPr b="1" i="1"/>
              <a:t>sont</a:t>
            </a:r>
          </a:p>
          <a:p>
            <a:pPr lvl="0"/>
            <a:r>
              <a:rPr/>
              <a:t>Production de </a:t>
            </a:r>
            <a:r>
              <a:rPr b="1"/>
              <a:t>"fabrications"</a:t>
            </a:r>
          </a:p>
          <a:p>
            <a:pPr lvl="0"/>
            <a:r>
              <a:rPr b="1"/>
              <a:t>Insécurité ontologique</a:t>
            </a:r>
          </a:p>
          <a:p>
            <a:pPr lvl="0" indent="0" marL="1270000">
              <a:buNone/>
            </a:pPr>
            <a:r>
              <a:rPr sz="2000"/>
              <a:t>"We become ontologically insecure: unsure whether we are doing enough, doing the right thing, doing as much as others, constantly looking to improve, to be better, to be excellent." (p. 220)</a:t>
            </a:r>
          </a:p>
          <a:p>
            <a:pPr lvl="0" indent="0" marL="0">
              <a:buNone/>
            </a:pPr>
            <a:r>
              <a:rPr/>
              <a:t>Ball, S. J. (2003). The teacher's soul and the terrors of performativity. </a:t>
            </a:r>
            <a:r>
              <a:rPr i="1"/>
              <a:t>Journal of Education Policy</a:t>
            </a:r>
            <a:r>
              <a:rPr/>
              <a:t>, 18(2), 215-228.</a:t>
            </a:r>
          </a:p>
          <a:p>
            <a:pPr lvl="0" indent="0" marL="0">
              <a:buNone/>
            </a:pPr>
            <a:r>
              <a:rPr/>
              <a:t>Si mon identité devient définie par mes outputs, alors je trouverai tous les moyens pour maximiser mes outputs. Les LLMs entrent parfaitement dans cette fonction.</a:t>
            </a:r>
          </a:p>
          <a:p>
            <a:pPr lvl="0" indent="0" marL="0">
              <a:spcBef>
                <a:spcPts val="3000"/>
              </a:spcBef>
              <a:buNone/>
            </a:pPr>
            <a:r>
              <a:rPr b="1"/>
              <a:t>On a donc notre contexte social</a:t>
            </a:r>
          </a:p>
          <a:p>
            <a:pPr lvl="0"/>
            <a:r>
              <a:rPr/>
              <a:t>Les LLMs sont des technologies sociales</a:t>
            </a:r>
          </a:p>
          <a:p>
            <a:pPr lvl="0"/>
            <a:r>
              <a:rPr/>
              <a:t>Qui s'insèrent dans un régime de performativité qui crée la demande pour des outils de production rapide.</a:t>
            </a:r>
          </a:p>
          <a:p>
            <a:pPr lvl="0" indent="0" marL="0">
              <a:spcBef>
                <a:spcPts val="3000"/>
              </a:spcBef>
              <a:buNone/>
            </a:pPr>
            <a:r>
              <a:rPr b="1"/>
              <a:t>Fabrications</a:t>
            </a:r>
          </a:p>
          <a:p>
            <a:pPr lvl="0" indent="0" marL="1270000">
              <a:buNone/>
            </a:pPr>
            <a:r>
              <a:rPr sz="2000"/>
              <a:t>"Fabrications are versions of an organization (or person) which does not exist – they are not 'outside the truth' but neither do they render simply true or direct accounts – they are produced purposefully in order 'to be accountable'." (p. 224)</a:t>
            </a:r>
          </a:p>
          <a:p>
            <a:pPr lvl="0" indent="0" marL="0">
              <a:buNone/>
            </a:pPr>
            <a:r>
              <a:rPr/>
              <a:t>Ball, S. J. (2003). The teacher's soul and the terrors of performativity. </a:t>
            </a:r>
            <a:r>
              <a:rPr i="1"/>
              <a:t>Journal of Education Policy</a:t>
            </a:r>
            <a:r>
              <a:rPr/>
              <a:t>, 18(2), 215-228.</a:t>
            </a:r>
          </a:p>
          <a:p>
            <a:pPr lvl="0" indent="0" marL="0">
              <a:spcBef>
                <a:spcPts val="3000"/>
              </a:spcBef>
              <a:buNone/>
            </a:pPr>
            <a:r>
              <a:rPr b="1"/>
              <a:t>Les LLM et la science</a:t>
            </a:r>
          </a:p>
          <a:p>
            <a:pPr lvl="0" indent="0" marL="1270000">
              <a:buNone/>
            </a:pPr>
            <a:r>
              <a:rPr sz="2000"/>
              <a:t>"To ask about LLMs and science is to ask what program was already running when they arrived. The program, as it turns out, had been running for decades, and it was not optimized for epistemic depth."</a:t>
            </a:r>
          </a:p>
          <a:p>
            <a:pPr lvl="0" indent="0" marL="0">
              <a:buNone/>
            </a:pPr>
            <a:r>
              <a:rPr/>
              <a:t>Baker, K. (2025). Context Widows, or, of GPUs, LPUs, and Goal Displacement. </a:t>
            </a:r>
            <a:r>
              <a:rPr i="1"/>
              <a:t>Artificial Bureaucracy</a:t>
            </a:r>
            <a:r>
              <a:rPr/>
              <a:t> (Substack). </a:t>
            </a:r>
            <a:r>
              <a:rPr>
                <a:hlinkClick r:id="rId4"/>
              </a:rPr>
              <a:t>https://artificialbureaucracy.substack.com/p/context-widows</a:t>
            </a:r>
          </a:p>
          <a:p>
            <a:pPr lvl="0" indent="0" marL="0">
              <a:buNone/>
            </a:pPr>
            <a:r>
              <a:rPr/>
              <a:t>"LLMs didn't create the dysfunction in scientific publishing; they inherited it, intensified it, made it run faster." Les LLM ne sont pas des agents de rupture ("disruptors") mais des intensificateurs ("intensifiers") d'une logique de déplacement des objectifs qui opère depuis 60 ans dans le système scientifique.</a:t>
            </a:r>
          </a:p>
          <a:p>
            <a:pPr lvl="0" indent="0" marL="0">
              <a:spcBef>
                <a:spcPts val="3000"/>
              </a:spcBef>
              <a:buNone/>
            </a:pPr>
            <a:r>
              <a:rPr b="1"/>
              <a:t>Métriques de citations</a:t>
            </a:r>
          </a:p>
          <a:p>
            <a:pPr lvl="0" indent="0" marL="0">
              <a:buNone/>
            </a:pPr>
            <a:r>
              <a:rPr/>
              <a:t>Comment gérer un système qui produit plus de littérature que quiconque peut lire?</a:t>
            </a:r>
          </a:p>
          <a:p>
            <a:pPr lvl="0" indent="0" marL="1270000">
              <a:buNone/>
            </a:pPr>
            <a:r>
              <a:rPr sz="2000"/>
              <a:t>"The intention was to solve an information overload problem—to help researchers find the important work in a flood of publication. This was a reasonable response to a real problem. But solutions curdle."</a:t>
            </a:r>
          </a:p>
          <a:p>
            <a:pPr lvl="0" indent="0" marL="0">
              <a:spcBef>
                <a:spcPts val="3000"/>
              </a:spcBef>
              <a:buNone/>
            </a:pPr>
            <a:r>
              <a:rPr b="1"/>
              <a:t>Métriques de citations (2)</a:t>
            </a:r>
          </a:p>
          <a:p>
            <a:pPr lvl="0" indent="0" marL="1270000">
              <a:buNone/>
            </a:pPr>
            <a:r>
              <a:rPr sz="2000"/>
              <a:t>"The metrics flattened this distinction into a single function: citation as credit, as endorsement, as vote."</a:t>
            </a:r>
          </a:p>
          <a:p>
            <a:pPr lvl="0" indent="0" marL="0">
              <a:buNone/>
            </a:pPr>
            <a:r>
              <a:rPr/>
              <a:t>Déplacement des objectifs (Merton, 1940)</a:t>
            </a:r>
          </a:p>
          <a:p>
            <a:pPr lvl="0" indent="0" marL="1270000">
              <a:buNone/>
            </a:pPr>
            <a:r>
              <a:rPr sz="2000"/>
              <a:t>"The measure becomes the target; the proxy becomes the prize."</a:t>
            </a:r>
          </a:p>
          <a:p>
            <a:pPr lvl="0" indent="0" marL="0">
              <a:buNone/>
            </a:pPr>
            <a:r>
              <a:rPr/>
              <a:t>Baker, K. (2025). Context Widows, or, of GPUs, LPUs, and Goal Displacement. </a:t>
            </a:r>
            <a:r>
              <a:rPr i="1"/>
              <a:t>Artificial Bureaucracy</a:t>
            </a:r>
            <a:r>
              <a:rPr/>
              <a:t> (Substack).</a:t>
            </a:r>
          </a:p>
          <a:p>
            <a:pPr lvl="0" indent="0" marL="0">
              <a:spcBef>
                <a:spcPts val="3000"/>
              </a:spcBef>
              <a:buNone/>
            </a:pPr>
            <a:r>
              <a:rPr b="1"/>
              <a:t>L'arrivée des LLMs</a:t>
            </a:r>
          </a:p>
          <a:p>
            <a:pPr lvl="0" indent="0" marL="1270000">
              <a:buNone/>
            </a:pPr>
            <a:r>
              <a:rPr sz="2000"/>
              <a:t>"Into this context—a scientific system already optimized for measurable output, already decades into goal displacement, already reshaping research priorities around metrics rather than problems—arrive large language models."</a:t>
            </a:r>
          </a:p>
          <a:p>
            <a:pPr lvl="0" indent="0" marL="0">
              <a:buNone/>
            </a:pPr>
            <a:r>
              <a:rPr/>
              <a:t>Baker, K. (2025). Context Widows, or, of GPUs, LPUs, and Goal Displacement. </a:t>
            </a:r>
            <a:r>
              <a:rPr i="1"/>
              <a:t>Artificial Bureaucracy</a:t>
            </a:r>
            <a:r>
              <a:rPr/>
              <a:t> (Substack).</a:t>
            </a:r>
          </a:p>
          <a:p>
            <a:pPr lvl="0" indent="0" marL="0">
              <a:spcBef>
                <a:spcPts val="3000"/>
              </a:spcBef>
              <a:buNone/>
            </a:pPr>
            <a:r>
              <a:rPr b="1"/>
              <a:t>Il existe des données empiriques</a:t>
            </a:r>
          </a:p>
          <a:p>
            <a:pPr lvl="0" indent="0" marL="0">
              <a:buNone/>
            </a:pPr>
            <a:r>
              <a:rPr/>
              <a:t>Hao, Q., Xu, F., Li, Y., &amp; Evans, J. (2026). Artificial intelligence tools expand scientists' impact but contract science's focus. </a:t>
            </a:r>
            <a:r>
              <a:rPr i="1"/>
              <a:t>Nature</a:t>
            </a:r>
            <a:r>
              <a:rPr/>
              <a:t>. </a:t>
            </a:r>
            <a:r>
              <a:rPr>
                <a:hlinkClick r:id="rId5"/>
              </a:rPr>
              <a:t>https://doi.org/10.1038/s41586-025-09922-y</a:t>
            </a:r>
          </a:p>
          <a:p>
            <a:pPr lvl="0" indent="0" marL="0">
              <a:buNone/>
            </a:pPr>
            <a:r>
              <a:rPr/>
              <a:t>41,3 millions d'articles (1980-2025)</a:t>
            </a:r>
          </a:p>
          <a:p>
            <a:pPr lvl="0" indent="0" marL="0">
              <a:spcBef>
                <a:spcPts val="3000"/>
              </a:spcBef>
              <a:buNone/>
            </a:pPr>
            <a:r>
              <a:rPr b="1"/>
              <a:t>Le paradoxe individuel/collectif</a:t>
            </a:r>
          </a:p>
          <a:p>
            <a:pPr lvl="0" indent="0" marL="0">
              <a:buNone/>
            </a:pPr>
            <a:r>
              <a:rPr/>
              <a:t>Hao, Q., Xu, F., Li, Y., &amp; Evans, J. (2026). Artificial intelligence tools expand scientists' impact but contract science's focus. </a:t>
            </a:r>
            <a:r>
              <a:rPr i="1"/>
              <a:t>Nature</a:t>
            </a:r>
            <a:r>
              <a:rPr/>
              <a:t>.</a:t>
            </a:r>
          </a:p>
          <a:p>
            <a:pPr lvl="0" indent="0" marL="0">
              <a:spcBef>
                <a:spcPts val="3000"/>
              </a:spcBef>
              <a:buNone/>
            </a:pPr>
            <a:r>
              <a:rPr b="1"/>
              <a:t>Des sujets délaissés</a:t>
            </a:r>
          </a:p>
          <a:p>
            <a:pPr lvl="0" indent="0" marL="1270000">
              <a:buNone/>
            </a:pPr>
            <a:r>
              <a:rPr sz="2000"/>
              <a:t>"What are the topics that are most likely to be left behind from AI-augmented research across fields? Those with less available data include critical scientific questions regarding the origins of natural phenomena, where data are necessarily reduced."</a:t>
            </a:r>
          </a:p>
          <a:p>
            <a:pPr lvl="0" indent="0" marL="1270000">
              <a:buNone/>
            </a:pPr>
            <a:r>
              <a:rPr sz="2000"/>
              <a:t>"This could shift collective attention away from new and original questions that lack the data required for AI to demonstrate benefit."</a:t>
            </a:r>
          </a:p>
          <a:p>
            <a:pPr lvl="0" indent="0" marL="0">
              <a:buNone/>
            </a:pPr>
            <a:r>
              <a:rPr/>
              <a:t>Hao, Q., Xu, F., Li, Y., &amp; Evans, J. (2026). Artificial intelligence tools expand scientists' impact but contract science's focus. </a:t>
            </a:r>
            <a:r>
              <a:rPr i="1"/>
              <a:t>Nature</a:t>
            </a:r>
            <a:r>
              <a:rPr/>
              <a:t>.</a:t>
            </a:r>
          </a:p>
          <a:p>
            <a:pPr lvl="0" indent="0" marL="0">
              <a:spcBef>
                <a:spcPts val="3000"/>
              </a:spcBef>
              <a:buNone/>
            </a:pPr>
            <a:r>
              <a:rPr b="1"/>
              <a:t>D'autres données empiriques</a:t>
            </a:r>
          </a:p>
          <a:p>
            <a:pPr lvl="0" indent="0" marL="0">
              <a:buNone/>
            </a:pPr>
            <a:r>
              <a:rPr/>
              <a:t>Kusumegi, K., Yang, X., Ginsparg, P., de Vaan, M., Stuart, T., &amp; Yin, Y. (2025). Scientific production in the era of large language models. </a:t>
            </a:r>
            <a:r>
              <a:rPr i="1"/>
              <a:t>Science</a:t>
            </a:r>
            <a:r>
              <a:rPr/>
              <a:t>, 386(6728), 1240-1243. </a:t>
            </a:r>
            <a:r>
              <a:rPr>
                <a:hlinkClick r:id="rId6"/>
              </a:rPr>
              <a:t>https://doi.org/10.1126/science.adw3000</a:t>
            </a:r>
          </a:p>
          <a:p>
            <a:pPr lvl="0" indent="0" marL="0">
              <a:spcBef>
                <a:spcPts val="3000"/>
              </a:spcBef>
              <a:buNone/>
            </a:pPr>
            <a:r>
              <a:rPr b="1"/>
              <a:t>D'autres données empiriques (2)</a:t>
            </a:r>
          </a:p>
          <a:p>
            <a:pPr lvl="0" indent="0" marL="1270000">
              <a:buNone/>
            </a:pPr>
            <a:r>
              <a:rPr sz="2000"/>
              <a:t>"The sharp contrast in quality assessments across the distribution of language complexity in the two groups—human-written and LLM-assisted manuscripts—confirms that complex LLM-generated language often disguises weak scientific contributions."</a:t>
            </a:r>
          </a:p>
          <a:p>
            <a:pPr lvl="0" indent="0" marL="0">
              <a:spcBef>
                <a:spcPts val="3000"/>
              </a:spcBef>
              <a:buNone/>
            </a:pPr>
            <a:r>
              <a:rPr b="1"/>
              <a:t>Quels liens avec l'enseignement?</a:t>
            </a:r>
          </a:p>
          <a:p>
            <a:pPr lvl="0" indent="0" marL="0">
              <a:buNone/>
            </a:pPr>
            <a:r>
              <a:rPr/>
              <a:t>Molesworth, M., Scullion, R., &amp; Nixon, E. (Eds.) (2011). </a:t>
            </a:r>
            <a:r>
              <a:rPr i="1"/>
              <a:t>The Marketisation of Higher Education and the Student as Consumer</a:t>
            </a:r>
            <a:r>
              <a:rPr/>
              <a:t>. London: Routledge.</a:t>
            </a:r>
          </a:p>
          <a:p>
            <a:pPr lvl="0" indent="0" marL="0">
              <a:buNone/>
            </a:pPr>
            <a:r>
              <a:rPr/>
              <a:t>Le versant étudiant de la performativité analysée par Ball chez les enseignants</a:t>
            </a:r>
          </a:p>
          <a:p>
            <a:pPr lvl="0" indent="0" marL="0">
              <a:spcBef>
                <a:spcPts val="3000"/>
              </a:spcBef>
              <a:buNone/>
            </a:pPr>
            <a:r>
              <a:rPr b="1"/>
              <a:t>L'étudiant comme consommateur</a:t>
            </a:r>
          </a:p>
          <a:p>
            <a:pPr lvl="0" indent="0" marL="1270000">
              <a:buNone/>
            </a:pPr>
            <a:r>
              <a:rPr sz="2000"/>
              <a:t>"Students seek to </a:t>
            </a:r>
            <a:r>
              <a:rPr sz="2000" i="1"/>
              <a:t>have</a:t>
            </a:r>
            <a:r>
              <a:rPr sz="2000"/>
              <a:t> a degree rather than to </a:t>
            </a:r>
            <a:r>
              <a:rPr sz="2000" i="1"/>
              <a:t>be</a:t>
            </a:r>
            <a:r>
              <a:rPr sz="2000"/>
              <a:t> learners." (Molesworth et al., 2009, p. 172)</a:t>
            </a:r>
          </a:p>
          <a:p>
            <a:pPr lvl="0" indent="0" marL="1270000">
              <a:buNone/>
            </a:pPr>
            <a:r>
              <a:rPr sz="2000"/>
              <a:t>"Students have become well-tuned consumers, their wealth of experience in commercial markets has shaped much of the way they respond to their desires, to opportunity and to choices they face." (Molesworth et al., 2009, p. 233)</a:t>
            </a:r>
          </a:p>
          <a:p>
            <a:pPr lvl="0" indent="0" marL="0">
              <a:spcBef>
                <a:spcPts val="3000"/>
              </a:spcBef>
              <a:buNone/>
            </a:pPr>
            <a:r>
              <a:rPr b="1"/>
              <a:t>L'étudiant comme consommateur (2)</a:t>
            </a:r>
          </a:p>
          <a:p>
            <a:pPr lvl="0" indent="0" marL="1270000">
              <a:buNone/>
            </a:pPr>
            <a:r>
              <a:rPr sz="2000"/>
              <a:t>"Education should create citizens who set their own interests aside for the greater good and who are willing to offer their knowledge and minds in the service of others. This is the opposite to the neo-liberal perspective of students and citizens pursuing their own self-interest." (Nordensvärd, p. 166)</a:t>
            </a:r>
          </a:p>
          <a:p>
            <a:pPr lvl="0" indent="0" marL="0">
              <a:spcBef>
                <a:spcPts val="3000"/>
              </a:spcBef>
              <a:buNone/>
            </a:pPr>
            <a:r>
              <a:rPr b="1"/>
              <a:t>Un diplôme comme "ticket"</a:t>
            </a:r>
          </a:p>
          <a:p>
            <a:pPr lvl="0" indent="0" marL="0">
              <a:buNone/>
            </a:pPr>
            <a:r>
              <a:rPr/>
              <a:t>Rendu plus accessible par l'utilisation des LLM</a:t>
            </a:r>
          </a:p>
          <a:p>
            <a:pPr lvl="0" indent="0" marL="1270000">
              <a:buNone/>
            </a:pPr>
            <a:r>
              <a:rPr sz="2000"/>
              <a:t>"This presentation of HE as a 'ticket' creates the sense that in attending university, students are accessing (perhaps purchasing) the 'graduate premium' irrespective of the extent of their engagement with the learning process." (Williams, citant Mandelson, 2009, p. 171-172)</a:t>
            </a:r>
          </a:p>
          <a:p>
            <a:pPr lvl="0" indent="0" marL="0">
              <a:spcBef>
                <a:spcPts val="3000"/>
              </a:spcBef>
              <a:buNone/>
            </a:pPr>
            <a:r>
              <a:rPr b="1"/>
              <a:t>Cognitive offloading</a:t>
            </a:r>
          </a:p>
          <a:p>
            <a:pPr lvl="0" indent="0" marL="1270000">
              <a:buNone/>
            </a:pPr>
            <a:r>
              <a:rPr sz="2000"/>
              <a:t>"The balance here is ultimately between using AI as a true study aid in a way that facilitates meaningful learning, and using it to cognitively offload tasks in a way that hinders learning."</a:t>
            </a:r>
          </a:p>
          <a:p>
            <a:pPr lvl="0" indent="0" marL="0">
              <a:buNone/>
            </a:pPr>
            <a:r>
              <a:rPr/>
              <a:t>Veale, M., Black, I., Dsouza, M., Fisher, M., Ghaus, M., Gibbs, T., Lynskey, O., O'Cinneide, C., Scotford, E., Thomas, O., Trapova, A., &amp; Trapp, K. (2025). Artificial Intelligence, Education and Assessment at UCL Laws: Current Thinking and Next Steps for the UK Legal Education Sector. </a:t>
            </a:r>
            <a:r>
              <a:rPr i="1"/>
              <a:t>UCL Legal Studies Research Paper Series</a:t>
            </a:r>
            <a:r>
              <a:rPr/>
              <a:t> 04/2025.</a:t>
            </a:r>
          </a:p>
          <a:p>
            <a:pPr lvl="0" indent="0" marL="0">
              <a:spcBef>
                <a:spcPts val="3000"/>
              </a:spcBef>
              <a:buNone/>
            </a:pPr>
            <a:r>
              <a:rPr b="1"/>
              <a:t>Cognitive offloading (2)</a:t>
            </a:r>
          </a:p>
          <a:p>
            <a:pPr lvl="0" indent="0" marL="1270000">
              <a:buNone/>
            </a:pPr>
            <a:r>
              <a:rPr sz="2000"/>
              <a:t>"Learning is the result of human </a:t>
            </a:r>
            <a:r>
              <a:rPr sz="2000" b="1"/>
              <a:t>grappling with the parts of the world that resist us</a:t>
            </a:r>
            <a:r>
              <a:rPr sz="2000"/>
              <a:t>."</a:t>
            </a:r>
          </a:p>
          <a:p>
            <a:pPr lvl="0" indent="0" marL="1270000">
              <a:buNone/>
            </a:pPr>
            <a:r>
              <a:rPr sz="2000"/>
              <a:t>"Education is, by necessity, </a:t>
            </a:r>
            <a:r>
              <a:rPr sz="2000" b="1"/>
              <a:t>inefficient</a:t>
            </a:r>
            <a:r>
              <a:rPr sz="2000"/>
              <a:t>."</a:t>
            </a:r>
          </a:p>
          <a:p>
            <a:pPr lvl="0" indent="0" marL="0">
              <a:buNone/>
            </a:pPr>
            <a:r>
              <a:rPr/>
              <a:t>Drimmer, S. et al. (2025). Four Frictions: or, How to Resist AI in Education. </a:t>
            </a:r>
            <a:r>
              <a:rPr i="1"/>
              <a:t>Public Books</a:t>
            </a:r>
            <a:r>
              <a:rPr/>
              <a:t>. </a:t>
            </a:r>
            <a:r>
              <a:rPr>
                <a:hlinkClick r:id="rId7"/>
              </a:rPr>
              <a:t>https://www.publicbooks.org/four-frictions-or-how-to-resist-ai-in-education/</a:t>
            </a:r>
          </a:p>
          <a:p>
            <a:pPr lvl="0" indent="0" marL="0">
              <a:spcBef>
                <a:spcPts val="3000"/>
              </a:spcBef>
              <a:buNone/>
            </a:pPr>
            <a:r>
              <a:rPr b="1"/>
              <a:t>Un "cas pratique"</a:t>
            </a:r>
          </a:p>
          <a:p>
            <a:pPr lvl="0" indent="0" marL="0">
              <a:buNone/>
            </a:pPr>
            <a:r>
              <a:rPr/>
              <a:t>Jj. (2025). The Copilot Delusion. </a:t>
            </a:r>
            <a:r>
              <a:rPr i="1"/>
              <a:t>deplet.ing</a:t>
            </a:r>
            <a:r>
              <a:rPr/>
              <a:t>. </a:t>
            </a:r>
            <a:r>
              <a:rPr>
                <a:hlinkClick r:id="rId8"/>
              </a:rPr>
              <a:t>https://deplet.ing/the-copilot-delusion/</a:t>
            </a:r>
          </a:p>
          <a:p>
            <a:pPr lvl="0"/>
            <a:r>
              <a:rPr/>
              <a:t>Billet de blog</a:t>
            </a:r>
          </a:p>
          <a:p>
            <a:pPr lvl="0"/>
            <a:r>
              <a:rPr/>
              <a:t>Témoignage de praticien</a:t>
            </a:r>
          </a:p>
          <a:p>
            <a:pPr lvl="0"/>
            <a:r>
              <a:rPr/>
              <a:t>Un programmeur défendant son métier comme un art face à l'IA</a:t>
            </a:r>
          </a:p>
          <a:p>
            <a:pPr lvl="0" indent="0" marL="0">
              <a:spcBef>
                <a:spcPts val="3000"/>
              </a:spcBef>
              <a:buNone/>
            </a:pPr>
            <a:r>
              <a:rPr b="1"/>
              <a:t>Being vs having</a:t>
            </a:r>
          </a:p>
          <a:p>
            <a:pPr lvl="0" indent="0" marL="1270000">
              <a:buNone/>
            </a:pPr>
            <a:r>
              <a:rPr sz="2000"/>
              <a:t>"I like to code. Not supervise. Not hover over a synthetic lobotomized chatbot like some drooling silicon intern... I want to build shit. Real shit. Weird shit. Systems that are </a:t>
            </a:r>
            <a:r>
              <a:rPr sz="2000" i="1"/>
              <a:t>on fire</a:t>
            </a:r>
            <a:r>
              <a:rPr sz="2000"/>
              <a:t> type shit."</a:t>
            </a:r>
          </a:p>
          <a:p>
            <a:pPr lvl="0" indent="0" marL="1270000">
              <a:buNone/>
            </a:pPr>
            <a:r>
              <a:rPr sz="2000"/>
              <a:t>"There was once magic here. There was once </a:t>
            </a:r>
            <a:r>
              <a:rPr sz="2000" i="1"/>
              <a:t>madness</a:t>
            </a:r>
            <a:r>
              <a:rPr sz="2000"/>
              <a:t>. Kids would stay up all night on IRC with bloodshot eyes, trying to render a cube in OpenGL without segfaulting their future. They </a:t>
            </a:r>
            <a:r>
              <a:rPr sz="2000" i="1"/>
              <a:t>cared</a:t>
            </a:r>
            <a:r>
              <a:rPr sz="2000"/>
              <a:t>."</a:t>
            </a:r>
          </a:p>
          <a:p>
            <a:pPr lvl="0" indent="0" marL="0">
              <a:spcBef>
                <a:spcPts val="3000"/>
              </a:spcBef>
              <a:buNone/>
            </a:pPr>
            <a:r>
              <a:rPr b="1"/>
              <a:t>Contre le cognitive offloading</a:t>
            </a:r>
          </a:p>
          <a:p>
            <a:pPr lvl="0" indent="0" marL="1270000">
              <a:buNone/>
            </a:pPr>
            <a:r>
              <a:rPr sz="2000"/>
              <a:t>"You want real connection to code? You </a:t>
            </a:r>
            <a:r>
              <a:rPr sz="2000" i="1"/>
              <a:t>earn</a:t>
            </a:r>
            <a:r>
              <a:rPr sz="2000"/>
              <a:t> that. You dig in. You wrestle with segfaults at 3 in the morning. You pace your apartment muttering about pointer arithmetic... When you outsource the thinking, you outsource the learning."</a:t>
            </a:r>
          </a:p>
          <a:p>
            <a:pPr lvl="0" indent="0" marL="1270000">
              <a:buNone/>
            </a:pPr>
            <a:r>
              <a:rPr sz="2000"/>
              <a:t>"You build taste by </a:t>
            </a:r>
            <a:r>
              <a:rPr sz="2000" i="1"/>
              <a:t>doing</a:t>
            </a:r>
            <a:r>
              <a:rPr sz="2000"/>
              <a:t>. By hurting. By shaving nanoseconds with surgical tools. By writing a routine on Monday, rewriting it Tuesday, and realizing Wednesday it still sucks."</a:t>
            </a:r>
          </a:p>
          <a:p>
            <a:pPr lvl="0" indent="0" marL="0">
              <a:spcBef>
                <a:spcPts val="3000"/>
              </a:spcBef>
              <a:buNone/>
            </a:pPr>
            <a:r>
              <a:rPr b="1"/>
              <a:t>Performativité vs qualité</a:t>
            </a:r>
          </a:p>
          <a:p>
            <a:pPr lvl="0" indent="0" marL="1270000">
              <a:buNone/>
            </a:pPr>
            <a:r>
              <a:rPr sz="2000"/>
              <a:t>"My boss corners me. 'Why aren't you pairing more with him? He types </a:t>
            </a:r>
            <a:r>
              <a:rPr sz="2000" i="1"/>
              <a:t>twice</a:t>
            </a:r>
            <a:r>
              <a:rPr sz="2000"/>
              <a:t> as fast as you.' Of course he does. So does a cat having a seizure on a mechanical keyboard. But that doesn't mean it should be writing production code."</a:t>
            </a:r>
          </a:p>
          <a:p>
            <a:pPr lvl="0" indent="0" marL="1270000">
              <a:buNone/>
            </a:pPr>
            <a:r>
              <a:rPr sz="2000"/>
              <a:t>"50 million users have an extra 3 seconds of unnecessary lag in a day because you wanted to hit tab rather than write code? That's nearly </a:t>
            </a:r>
            <a:r>
              <a:rPr sz="2000" i="1"/>
              <a:t>5 years</a:t>
            </a:r>
            <a:r>
              <a:rPr sz="2000"/>
              <a:t> of cumulative wasted time."</a:t>
            </a:r>
          </a:p>
          <a:p>
            <a:pPr lvl="0" indent="0" marL="0">
              <a:spcBef>
                <a:spcPts val="3000"/>
              </a:spcBef>
              <a:buNone/>
            </a:pPr>
            <a:r>
              <a:rPr b="1"/>
              <a:t>Goal displacement</a:t>
            </a:r>
          </a:p>
          <a:p>
            <a:pPr lvl="0" indent="0" marL="1270000">
              <a:buNone/>
            </a:pPr>
            <a:r>
              <a:rPr sz="2000"/>
              <a:t>"The real horror isn't that AI will take our jobs. It's that it will entice people who never wanted the job to begin with. People who don't care for quality... Vampires with SaaS dreams and Web3 in their LinkedIn bio."</a:t>
            </a:r>
          </a:p>
          <a:p>
            <a:pPr lvl="0" indent="0" marL="0">
              <a:spcBef>
                <a:spcPts val="3000"/>
              </a:spcBef>
              <a:buNone/>
            </a:pPr>
            <a:r>
              <a:rPr b="1"/>
              <a:t>Goal displacement (2)</a:t>
            </a:r>
          </a:p>
          <a:p>
            <a:pPr lvl="0" indent="0" marL="1270000">
              <a:buNone/>
            </a:pPr>
            <a:r>
              <a:rPr sz="2000"/>
              <a:t>"And what's worse, we'll normalize this mediocrity. Cement it in tooling. Turn it into a best practice."</a:t>
            </a:r>
          </a:p>
          <a:p>
            <a:pPr lvl="0" indent="0" marL="1270000">
              <a:buNone/>
            </a:pPr>
            <a:r>
              <a:rPr sz="2000"/>
              <a:t>"If that happens? If the last real programmers are drowned in a sea of button-clicking career-chasers - then I pity the smart outsider kids to come after me."</a:t>
            </a:r>
          </a:p>
          <a:p>
            <a:pPr lvl="0" indent="0" marL="0">
              <a:spcBef>
                <a:spcPts val="3000"/>
              </a:spcBef>
              <a:buNone/>
            </a:pPr>
            <a:r>
              <a:rPr b="1"/>
              <a:t>Des points positifs tout de même</a:t>
            </a:r>
          </a:p>
          <a:p>
            <a:pPr lvl="0"/>
            <a:r>
              <a:rPr/>
              <a:t>Tactiques de résistance et d'appropriation (de Certeau, cité par Agirdag, 2025)</a:t>
            </a:r>
          </a:p>
          <a:p>
            <a:pPr lvl="1"/>
            <a:r>
              <a:rPr/>
              <a:t>Révéler les biais</a:t>
            </a:r>
          </a:p>
          <a:p>
            <a:pPr lvl="1"/>
            <a:r>
              <a:rPr/>
              <a:t>Comparer les modèles pour montrer que le savoir est situé</a:t>
            </a:r>
          </a:p>
          <a:p>
            <a:pPr lvl="1"/>
            <a:r>
              <a:rPr/>
              <a:t>Translanguaging: valoriser les répertoires multilingues des étudiants</a:t>
            </a:r>
          </a:p>
          <a:p>
            <a:pPr lvl="0"/>
            <a:r>
              <a:rPr/>
              <a:t>Literacy: conscience critique des contextes sociaux, culturels et politico-économiques</a:t>
            </a:r>
          </a:p>
          <a:p>
            <a:pPr lvl="0" indent="0" marL="0">
              <a:buNone/>
            </a:pPr>
            <a:r>
              <a:rPr/>
              <a:t>Agirdag, O. (2025). Beyond Prompt Engineering: Prompting (L)iteracy, Linguistic Capital, and Educational Inequality. </a:t>
            </a:r>
            <a:r>
              <a:rPr i="1"/>
              <a:t>Educational Theory</a:t>
            </a:r>
            <a:r>
              <a:rPr/>
              <a:t>. </a:t>
            </a:r>
            <a:r>
              <a:rPr>
                <a:hlinkClick r:id="rId9"/>
              </a:rPr>
              <a:t>https://doi.org/10.1111/edth.70057</a:t>
            </a:r>
          </a:p>
          <a:p>
            <a:pPr lvl="0" indent="0" marL="0">
              <a:spcBef>
                <a:spcPts val="3000"/>
              </a:spcBef>
              <a:buNone/>
            </a:pPr>
            <a:r>
              <a:rPr b="1"/>
              <a:t>Des points positifs tout de même (2)</a:t>
            </a:r>
          </a:p>
          <a:p>
            <a:pPr lvl="0" indent="0" marL="1270000">
              <a:buNone/>
            </a:pPr>
            <a:r>
              <a:rPr sz="2000"/>
              <a:t>"By wiring together so many perspectives across text, audio, and images, large models may allow us to discover unprecedented connections between them for the benefit of science and society. These technologies have most commonly been trained to regurgitate routine information as helpful assistants. A more fundamental set of possibilities might open up if we deployed them as maps to explore formerly uncharted territory." (Farrell et al., 2025, p. 3)</a:t>
            </a:r>
          </a:p>
          <a:p>
            <a:pPr lvl="0" indent="0" marL="0">
              <a:spcBef>
                <a:spcPts val="3000"/>
              </a:spcBef>
              <a:buNone/>
            </a:pPr>
            <a:r>
              <a:rPr b="1"/>
              <a:t>Au début de recherches fascinantes</a:t>
            </a:r>
          </a:p>
          <a:p>
            <a:pPr lvl="0" indent="0" marL="1270000">
              <a:buNone/>
            </a:pPr>
            <a:r>
              <a:rPr sz="2000"/>
              <a:t>"Will large models lead to greater cultural homogeneity or greater fragmentation? Will they reinforce or undermine the social institutions of human discovery? As they reshape the political economy, who will win and lose?"</a:t>
            </a:r>
          </a:p>
          <a:p>
            <a:pPr lvl="0" indent="0" marL="1270000">
              <a:buNone/>
            </a:pPr>
            <a:r>
              <a:rPr sz="2000"/>
              <a:t>"Can large models be developed to enhance human creativity rather than to dull it? Finding practical answers to such questions will require an understanding of social science as well as engineering. Shifting the debate about AI away from agents and toward cultural and social technologies is a crucial first step toward building that cross-disciplinary understanding (15)" (Farrell et al., 2025, p. 4)</a:t>
            </a:r>
          </a:p>
          <a:p>
            <a:pPr lvl="0" indent="0" marL="0">
              <a:spcBef>
                <a:spcPts val="3000"/>
              </a:spcBef>
              <a:buNone/>
            </a:pPr>
            <a:r>
              <a:rPr b="1"/>
              <a:t>Modeste proposition</a:t>
            </a:r>
          </a:p>
          <a:p>
            <a:pPr lvl="0" indent="0" marL="0">
              <a:buNone/>
            </a:pPr>
            <a:r>
              <a:rPr/>
              <a:t>Etudier en contexte la "prompting (l)iteracy" d'enseignants universitaires.</a:t>
            </a:r>
          </a:p>
          <a:p>
            <a:pPr lvl="0" indent="0" marL="0">
              <a:spcBef>
                <a:spcPts val="3000"/>
              </a:spcBef>
              <a:buNone/>
            </a:pPr>
            <a:r>
              <a:rPr b="1"/>
              <a:t>Merci pour votre attention</a:t>
            </a:r>
          </a:p>
          <a:p>
            <a:pPr lvl="0" indent="0" marL="0">
              <a:buNone/>
            </a:pPr>
            <a:r>
              <a:rPr b="1"/>
              <a:t>Nathanaël Friant</a:t>
            </a:r>
          </a:p>
          <a:p>
            <a:pPr lvl="0" indent="0" marL="0">
              <a:buNone/>
            </a:pPr>
            <a:r>
              <a:rPr/>
              <a:t>Université libre de Bruxelles</a:t>
            </a:r>
          </a:p>
          <a:p>
            <a:pPr lvl="0" indent="0" marL="0">
              <a:spcBef>
                <a:spcPts val="3000"/>
              </a:spcBef>
              <a:buNone/>
            </a:pPr>
            <a:r>
              <a:rPr b="1"/>
              <a:t>Note sur l'utilisation de LLMs</a:t>
            </a:r>
          </a:p>
          <a:p>
            <a:pPr lvl="0" indent="0" marL="0">
              <a:buNone/>
            </a:pPr>
            <a:r>
              <a:rPr/>
              <a:t>Claude Opus 4.5 a été utilisé pour m'aider à articuler les sources éparses collectées à l'argument développé dans ma proposition de communication en créant des fiches synthétisant chacune de ces sources et explicitant le lien avec mes arguments.</a:t>
            </a:r>
          </a:p>
          <a:p>
            <a:pPr lvl="0" indent="0" marL="0">
              <a:buNone/>
            </a:pPr>
            <a:r>
              <a:rPr/>
              <a:t>Une première présentation suite aux prompts présentés en slides 3 et 4 a été entièrement créée par Claude. Elle disponible à l'adresse - </a:t>
            </a:r>
            <a:r>
              <a:rPr>
                <a:hlinkClick r:id="rId10"/>
              </a:rPr>
              <a:t>https://nathfriant.github.io/llm-performativite/</a:t>
            </a:r>
          </a:p>
          <a:p>
            <a:pPr lvl="0" indent="0" marL="0">
              <a:buNone/>
            </a:pPr>
            <a:r>
              <a:rPr/>
              <a:t>J'ai entièrement recréé une nouvelle présentation: celle-ci.</a:t>
            </a:r>
          </a:p>
          <a:p>
            <a:pPr lvl="0" indent="0" marL="0">
              <a:spcBef>
                <a:spcPts val="3000"/>
              </a:spcBef>
              <a:buNone/>
            </a:pPr>
            <a:r>
              <a:rPr b="1"/>
              <a:t>Licence</a:t>
            </a:r>
          </a:p>
          <a:p>
            <a:pPr lvl="0" indent="0" marL="0">
              <a:buNone/>
            </a:pPr>
            <a:r>
              <a:rPr>
                <a:hlinkClick r:id="rId11"/>
              </a:rPr>
              <a:t>CC BY-NC-SA 4.0</a:t>
            </a:r>
          </a:p>
          <a:p>
            <a:pPr lvl="0" indent="0" marL="0">
              <a:buNone/>
            </a:pPr>
            <a:r>
              <a:rPr/>
              <a:t>Cette œuvre est mise à disposition selon les termes de la licence</a:t>
            </a:r>
            <a:br/>
            <a:r>
              <a:rPr>
                <a:hlinkClick r:id="rId12"/>
              </a:rPr>
              <a:t>Creative Commons Attribution - Pas d'Utilisation Commerciale - Partage dans les Mêmes Conditions 4.0 International</a:t>
            </a:r>
          </a:p>
          <a:p>
            <a:pPr lvl="0" indent="0" marL="0">
              <a:buNone/>
            </a:pPr>
            <a:r>
              <a:rPr/>
              <a:t>© 2026 Nathanaël Friant - Université libre de Bruxelles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LLMs et emballement de la performativité</dc:title>
  <dc:creator/>
  <cp:keywords/>
  <dcterms:created xsi:type="dcterms:W3CDTF">2026-01-27T20:58:56Z</dcterms:created>
  <dcterms:modified xsi:type="dcterms:W3CDTF">2026-01-27T20:58:56Z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iewport">
    <vt:lpwstr>width=device-width, initial-scale=1.0</vt:lpwstr>
  </property>
</Properties>
</file>